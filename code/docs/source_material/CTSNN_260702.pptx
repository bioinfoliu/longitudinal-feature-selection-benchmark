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032" r:id="rId3"/>
    <p:sldId id="2028" r:id="rId4"/>
    <p:sldId id="2029" r:id="rId5"/>
    <p:sldId id="2031" r:id="rId6"/>
    <p:sldId id="2033" r:id="rId7"/>
    <p:sldId id="278" r:id="rId8"/>
    <p:sldId id="2034" r:id="rId9"/>
    <p:sldId id="2024" r:id="rId10"/>
    <p:sldId id="2002" r:id="rId11"/>
    <p:sldId id="2003" r:id="rId12"/>
    <p:sldId id="1991" r:id="rId13"/>
    <p:sldId id="2020" r:id="rId14"/>
    <p:sldId id="2004" r:id="rId15"/>
    <p:sldId id="269" r:id="rId16"/>
    <p:sldId id="268" r:id="rId17"/>
    <p:sldId id="271" r:id="rId18"/>
    <p:sldId id="287" r:id="rId19"/>
    <p:sldId id="2008" r:id="rId20"/>
    <p:sldId id="1951" r:id="rId21"/>
    <p:sldId id="2025" r:id="rId22"/>
    <p:sldId id="1984" r:id="rId23"/>
    <p:sldId id="2027" r:id="rId24"/>
    <p:sldId id="290" r:id="rId25"/>
  </p:sldIdLst>
  <p:sldSz cx="12192000" cy="6858000"/>
  <p:notesSz cx="6858000" cy="9144000"/>
  <p:defaultTex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69"/>
    <p:restoredTop sz="91837"/>
  </p:normalViewPr>
  <p:slideViewPr>
    <p:cSldViewPr snapToGrid="0">
      <p:cViewPr>
        <p:scale>
          <a:sx n="137" d="100"/>
          <a:sy n="137" d="100"/>
        </p:scale>
        <p:origin x="-216"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4EF22D-B7E8-384B-991F-E524413AFB54}" type="datetimeFigureOut">
              <a:rPr lang="en-KR" smtClean="0"/>
              <a:t>7/8/26</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6D575-C6E6-FB42-929B-7C3A8634CAE5}" type="slidenum">
              <a:rPr lang="en-KR" smtClean="0"/>
              <a:t>‹#›</a:t>
            </a:fld>
            <a:endParaRPr lang="en-KR"/>
          </a:p>
        </p:txBody>
      </p:sp>
    </p:spTree>
    <p:extLst>
      <p:ext uri="{BB962C8B-B14F-4D97-AF65-F5344CB8AC3E}">
        <p14:creationId xmlns:p14="http://schemas.microsoft.com/office/powerpoint/2010/main" val="9578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6516D575-C6E6-FB42-929B-7C3A8634CAE5}" type="slidenum">
              <a:rPr lang="en-KR" smtClean="0"/>
              <a:t>1</a:t>
            </a:fld>
            <a:endParaRPr lang="en-KR"/>
          </a:p>
        </p:txBody>
      </p:sp>
    </p:spTree>
    <p:extLst>
      <p:ext uri="{BB962C8B-B14F-4D97-AF65-F5344CB8AC3E}">
        <p14:creationId xmlns:p14="http://schemas.microsoft.com/office/powerpoint/2010/main" val="1147945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B7F15-1B3D-BA15-5B92-DCE2CADAC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E04FC-0510-CBD4-FC80-6C47F92CA3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E8211-C9D6-104B-61BA-AC7100804842}"/>
              </a:ext>
            </a:extLst>
          </p:cNvPr>
          <p:cNvSpPr>
            <a:spLocks noGrp="1"/>
          </p:cNvSpPr>
          <p:nvPr>
            <p:ph type="body" idx="1"/>
          </p:nvPr>
        </p:nvSpPr>
        <p:spPr/>
        <p:txBody>
          <a:bodyPr/>
          <a:lstStyle/>
          <a:p>
            <a:endParaRPr lang="en-KR" dirty="0"/>
          </a:p>
        </p:txBody>
      </p:sp>
      <p:sp>
        <p:nvSpPr>
          <p:cNvPr id="4" name="Slide Number Placeholder 3">
            <a:extLst>
              <a:ext uri="{FF2B5EF4-FFF2-40B4-BE49-F238E27FC236}">
                <a16:creationId xmlns:a16="http://schemas.microsoft.com/office/drawing/2014/main" id="{73D3B791-9D13-655A-3B19-FEACD43A430B}"/>
              </a:ext>
            </a:extLst>
          </p:cNvPr>
          <p:cNvSpPr>
            <a:spLocks noGrp="1"/>
          </p:cNvSpPr>
          <p:nvPr>
            <p:ph type="sldNum" sz="quarter" idx="5"/>
          </p:nvPr>
        </p:nvSpPr>
        <p:spPr/>
        <p:txBody>
          <a:bodyPr/>
          <a:lstStyle/>
          <a:p>
            <a:fld id="{6516D575-C6E6-FB42-929B-7C3A8634CAE5}" type="slidenum">
              <a:rPr lang="en-KR" smtClean="0"/>
              <a:t>2</a:t>
            </a:fld>
            <a:endParaRPr lang="en-KR"/>
          </a:p>
        </p:txBody>
      </p:sp>
    </p:spTree>
    <p:extLst>
      <p:ext uri="{BB962C8B-B14F-4D97-AF65-F5344CB8AC3E}">
        <p14:creationId xmlns:p14="http://schemas.microsoft.com/office/powerpoint/2010/main" val="3277432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9B0A5F35-CC37-0B4B-A3BD-74018C996931}" type="slidenum">
              <a:rPr lang="en-KR" smtClean="0"/>
              <a:t>7</a:t>
            </a:fld>
            <a:endParaRPr lang="en-KR"/>
          </a:p>
        </p:txBody>
      </p:sp>
    </p:spTree>
    <p:extLst>
      <p:ext uri="{BB962C8B-B14F-4D97-AF65-F5344CB8AC3E}">
        <p14:creationId xmlns:p14="http://schemas.microsoft.com/office/powerpoint/2010/main" val="572737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6516D575-C6E6-FB42-929B-7C3A8634CAE5}" type="slidenum">
              <a:rPr lang="en-KR" smtClean="0"/>
              <a:t>10</a:t>
            </a:fld>
            <a:endParaRPr lang="en-KR"/>
          </a:p>
        </p:txBody>
      </p:sp>
    </p:spTree>
    <p:extLst>
      <p:ext uri="{BB962C8B-B14F-4D97-AF65-F5344CB8AC3E}">
        <p14:creationId xmlns:p14="http://schemas.microsoft.com/office/powerpoint/2010/main" val="3114601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6516D575-C6E6-FB42-929B-7C3A8634CAE5}" type="slidenum">
              <a:rPr lang="en-KR" smtClean="0"/>
              <a:t>11</a:t>
            </a:fld>
            <a:endParaRPr lang="en-KR"/>
          </a:p>
        </p:txBody>
      </p:sp>
    </p:spTree>
    <p:extLst>
      <p:ext uri="{BB962C8B-B14F-4D97-AF65-F5344CB8AC3E}">
        <p14:creationId xmlns:p14="http://schemas.microsoft.com/office/powerpoint/2010/main" val="3066777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/ˈ</a:t>
            </a:r>
            <a:r>
              <a:rPr lang="en-US" dirty="0" err="1"/>
              <a:t>liːkɪdʒ</a:t>
            </a:r>
            <a:r>
              <a:rPr lang="en-US" dirty="0"/>
              <a:t>/</a:t>
            </a:r>
          </a:p>
        </p:txBody>
      </p:sp>
      <p:sp>
        <p:nvSpPr>
          <p:cNvPr id="4" name="Slide Number Placeholder 3"/>
          <p:cNvSpPr>
            <a:spLocks noGrp="1"/>
          </p:cNvSpPr>
          <p:nvPr>
            <p:ph type="sldNum" sz="quarter" idx="5"/>
          </p:nvPr>
        </p:nvSpPr>
        <p:spPr/>
        <p:txBody>
          <a:bodyPr/>
          <a:lstStyle/>
          <a:p>
            <a:fld id="{9B0A5F35-CC37-0B4B-A3BD-74018C996931}" type="slidenum">
              <a:rPr lang="en-KR" smtClean="0"/>
              <a:t>18</a:t>
            </a:fld>
            <a:endParaRPr lang="en-KR"/>
          </a:p>
        </p:txBody>
      </p:sp>
    </p:spTree>
    <p:extLst>
      <p:ext uri="{BB962C8B-B14F-4D97-AF65-F5344CB8AC3E}">
        <p14:creationId xmlns:p14="http://schemas.microsoft.com/office/powerpoint/2010/main" val="4072574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ED667-7FFA-BB46-9A02-C935538D81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R"/>
          </a:p>
        </p:txBody>
      </p:sp>
      <p:sp>
        <p:nvSpPr>
          <p:cNvPr id="3" name="Subtitle 2">
            <a:extLst>
              <a:ext uri="{FF2B5EF4-FFF2-40B4-BE49-F238E27FC236}">
                <a16:creationId xmlns:a16="http://schemas.microsoft.com/office/drawing/2014/main" id="{35D2AC1D-5891-3DD5-EF82-52859E6BBE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R"/>
          </a:p>
        </p:txBody>
      </p:sp>
      <p:sp>
        <p:nvSpPr>
          <p:cNvPr id="4" name="Date Placeholder 3">
            <a:extLst>
              <a:ext uri="{FF2B5EF4-FFF2-40B4-BE49-F238E27FC236}">
                <a16:creationId xmlns:a16="http://schemas.microsoft.com/office/drawing/2014/main" id="{B9C45916-6BCA-15D9-A346-EA2B8B1A60F6}"/>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5" name="Footer Placeholder 4">
            <a:extLst>
              <a:ext uri="{FF2B5EF4-FFF2-40B4-BE49-F238E27FC236}">
                <a16:creationId xmlns:a16="http://schemas.microsoft.com/office/drawing/2014/main" id="{DCABD253-8BE8-5009-0CCD-18371956861E}"/>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4E0F67DE-A364-CAB0-6284-051384FD2439}"/>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1054354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79BB-173B-A00F-2D5D-137BB03B33D5}"/>
              </a:ext>
            </a:extLst>
          </p:cNvPr>
          <p:cNvSpPr>
            <a:spLocks noGrp="1"/>
          </p:cNvSpPr>
          <p:nvPr>
            <p:ph type="title"/>
          </p:nvPr>
        </p:nvSpPr>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42B5D3F2-E039-8221-0783-64F3CB6886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73B7E49B-2F08-C8DB-207F-60099ED9A3E5}"/>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5" name="Footer Placeholder 4">
            <a:extLst>
              <a:ext uri="{FF2B5EF4-FFF2-40B4-BE49-F238E27FC236}">
                <a16:creationId xmlns:a16="http://schemas.microsoft.com/office/drawing/2014/main" id="{6E156FD9-7DB3-B24F-8B82-7BC51818928C}"/>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DD7C22D6-159D-A0AE-249C-47F4B4AF669B}"/>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3771218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37A38-F6E0-4551-2B8B-6487D1F833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R"/>
          </a:p>
        </p:txBody>
      </p:sp>
      <p:sp>
        <p:nvSpPr>
          <p:cNvPr id="3" name="Text Placeholder 2">
            <a:extLst>
              <a:ext uri="{FF2B5EF4-FFF2-40B4-BE49-F238E27FC236}">
                <a16:creationId xmlns:a16="http://schemas.microsoft.com/office/drawing/2014/main" id="{0EF9FA2F-49C7-98BD-81A6-2DB95A3945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2E7006-5CC8-A9D7-3FF7-43A2D750CE5B}"/>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5" name="Footer Placeholder 4">
            <a:extLst>
              <a:ext uri="{FF2B5EF4-FFF2-40B4-BE49-F238E27FC236}">
                <a16:creationId xmlns:a16="http://schemas.microsoft.com/office/drawing/2014/main" id="{02B1BC8E-584E-5A66-6F32-A777F1DBA4DE}"/>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51FE75F6-7132-FCE0-218D-0E48540B757B}"/>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730864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B460-5A00-9E9C-866B-349BE19FC37A}"/>
              </a:ext>
            </a:extLst>
          </p:cNvPr>
          <p:cNvSpPr>
            <a:spLocks noGrp="1"/>
          </p:cNvSpPr>
          <p:nvPr>
            <p:ph type="title"/>
          </p:nvPr>
        </p:nvSpPr>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8D694D86-5FA8-5329-6E93-41029B81EE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Content Placeholder 3">
            <a:extLst>
              <a:ext uri="{FF2B5EF4-FFF2-40B4-BE49-F238E27FC236}">
                <a16:creationId xmlns:a16="http://schemas.microsoft.com/office/drawing/2014/main" id="{34617C86-2DF2-B02E-1B81-299308FB8D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Date Placeholder 4">
            <a:extLst>
              <a:ext uri="{FF2B5EF4-FFF2-40B4-BE49-F238E27FC236}">
                <a16:creationId xmlns:a16="http://schemas.microsoft.com/office/drawing/2014/main" id="{A031EB92-FA49-2E69-02C7-56D7C28A3264}"/>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6" name="Footer Placeholder 5">
            <a:extLst>
              <a:ext uri="{FF2B5EF4-FFF2-40B4-BE49-F238E27FC236}">
                <a16:creationId xmlns:a16="http://schemas.microsoft.com/office/drawing/2014/main" id="{44F3FED1-7525-3DDD-976E-0A91CFE878AB}"/>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DFB89C66-5703-4E44-D178-450E636E8469}"/>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1324706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241D-6AF8-3569-67A0-AF2B708DC0DB}"/>
              </a:ext>
            </a:extLst>
          </p:cNvPr>
          <p:cNvSpPr>
            <a:spLocks noGrp="1"/>
          </p:cNvSpPr>
          <p:nvPr>
            <p:ph type="title"/>
          </p:nvPr>
        </p:nvSpPr>
        <p:spPr>
          <a:xfrm>
            <a:off x="839788" y="365125"/>
            <a:ext cx="10515600" cy="1325563"/>
          </a:xfrm>
        </p:spPr>
        <p:txBody>
          <a:bodyPr/>
          <a:lstStyle/>
          <a:p>
            <a:r>
              <a:rPr lang="en-US"/>
              <a:t>Click to edit Master title style</a:t>
            </a:r>
            <a:endParaRPr lang="en-KR"/>
          </a:p>
        </p:txBody>
      </p:sp>
      <p:sp>
        <p:nvSpPr>
          <p:cNvPr id="3" name="Text Placeholder 2">
            <a:extLst>
              <a:ext uri="{FF2B5EF4-FFF2-40B4-BE49-F238E27FC236}">
                <a16:creationId xmlns:a16="http://schemas.microsoft.com/office/drawing/2014/main" id="{0CD5DEEE-BCC6-EE54-A2B9-4C2A4C0A7B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CBA24A-221C-F24B-0D9C-47D3FD3B27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Text Placeholder 4">
            <a:extLst>
              <a:ext uri="{FF2B5EF4-FFF2-40B4-BE49-F238E27FC236}">
                <a16:creationId xmlns:a16="http://schemas.microsoft.com/office/drawing/2014/main" id="{F81BDF09-7404-F953-EFA1-6B7D3441FB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61A631-AC27-4F3A-8FA2-B4EBAA21CC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7" name="Date Placeholder 6">
            <a:extLst>
              <a:ext uri="{FF2B5EF4-FFF2-40B4-BE49-F238E27FC236}">
                <a16:creationId xmlns:a16="http://schemas.microsoft.com/office/drawing/2014/main" id="{3E79528B-E803-9504-00F4-923A97841243}"/>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8" name="Footer Placeholder 7">
            <a:extLst>
              <a:ext uri="{FF2B5EF4-FFF2-40B4-BE49-F238E27FC236}">
                <a16:creationId xmlns:a16="http://schemas.microsoft.com/office/drawing/2014/main" id="{2A4E2A74-E78A-6DDA-ED23-FB6F13E96EEE}"/>
              </a:ext>
            </a:extLst>
          </p:cNvPr>
          <p:cNvSpPr>
            <a:spLocks noGrp="1"/>
          </p:cNvSpPr>
          <p:nvPr>
            <p:ph type="ftr" sz="quarter" idx="11"/>
          </p:nvPr>
        </p:nvSpPr>
        <p:spPr/>
        <p:txBody>
          <a:bodyPr/>
          <a:lstStyle/>
          <a:p>
            <a:endParaRPr lang="en-KR"/>
          </a:p>
        </p:txBody>
      </p:sp>
      <p:sp>
        <p:nvSpPr>
          <p:cNvPr id="9" name="Slide Number Placeholder 8">
            <a:extLst>
              <a:ext uri="{FF2B5EF4-FFF2-40B4-BE49-F238E27FC236}">
                <a16:creationId xmlns:a16="http://schemas.microsoft.com/office/drawing/2014/main" id="{4EF8D600-4825-9977-8F6E-AA659A9B0B7E}"/>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2627359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08B4-ABEA-CB6D-3AAC-83AE1BCB1BF7}"/>
              </a:ext>
            </a:extLst>
          </p:cNvPr>
          <p:cNvSpPr>
            <a:spLocks noGrp="1"/>
          </p:cNvSpPr>
          <p:nvPr>
            <p:ph type="title"/>
          </p:nvPr>
        </p:nvSpPr>
        <p:spPr/>
        <p:txBody>
          <a:bodyPr/>
          <a:lstStyle/>
          <a:p>
            <a:r>
              <a:rPr lang="en-US"/>
              <a:t>Click to edit Master title style</a:t>
            </a:r>
            <a:endParaRPr lang="en-KR"/>
          </a:p>
        </p:txBody>
      </p:sp>
      <p:sp>
        <p:nvSpPr>
          <p:cNvPr id="3" name="Date Placeholder 2">
            <a:extLst>
              <a:ext uri="{FF2B5EF4-FFF2-40B4-BE49-F238E27FC236}">
                <a16:creationId xmlns:a16="http://schemas.microsoft.com/office/drawing/2014/main" id="{61497EEC-D9F8-6DF0-4DA1-63073395F642}"/>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4" name="Footer Placeholder 3">
            <a:extLst>
              <a:ext uri="{FF2B5EF4-FFF2-40B4-BE49-F238E27FC236}">
                <a16:creationId xmlns:a16="http://schemas.microsoft.com/office/drawing/2014/main" id="{7D84CDB4-E3AD-7888-11CA-30598CD0267E}"/>
              </a:ext>
            </a:extLst>
          </p:cNvPr>
          <p:cNvSpPr>
            <a:spLocks noGrp="1"/>
          </p:cNvSpPr>
          <p:nvPr>
            <p:ph type="ftr" sz="quarter" idx="11"/>
          </p:nvPr>
        </p:nvSpPr>
        <p:spPr/>
        <p:txBody>
          <a:bodyPr/>
          <a:lstStyle/>
          <a:p>
            <a:endParaRPr lang="en-KR"/>
          </a:p>
        </p:txBody>
      </p:sp>
      <p:sp>
        <p:nvSpPr>
          <p:cNvPr id="5" name="Slide Number Placeholder 4">
            <a:extLst>
              <a:ext uri="{FF2B5EF4-FFF2-40B4-BE49-F238E27FC236}">
                <a16:creationId xmlns:a16="http://schemas.microsoft.com/office/drawing/2014/main" id="{7488B600-BE91-2658-BB46-58485BFB4631}"/>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1006127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6701E7-0DAC-DCE5-741E-BFF69A43B7F7}"/>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3" name="Footer Placeholder 2">
            <a:extLst>
              <a:ext uri="{FF2B5EF4-FFF2-40B4-BE49-F238E27FC236}">
                <a16:creationId xmlns:a16="http://schemas.microsoft.com/office/drawing/2014/main" id="{225BACCA-565A-6F65-1A08-E0B400042E8F}"/>
              </a:ext>
            </a:extLst>
          </p:cNvPr>
          <p:cNvSpPr>
            <a:spLocks noGrp="1"/>
          </p:cNvSpPr>
          <p:nvPr>
            <p:ph type="ftr" sz="quarter" idx="11"/>
          </p:nvPr>
        </p:nvSpPr>
        <p:spPr/>
        <p:txBody>
          <a:bodyPr/>
          <a:lstStyle/>
          <a:p>
            <a:endParaRPr lang="en-KR"/>
          </a:p>
        </p:txBody>
      </p:sp>
      <p:sp>
        <p:nvSpPr>
          <p:cNvPr id="4" name="Slide Number Placeholder 3">
            <a:extLst>
              <a:ext uri="{FF2B5EF4-FFF2-40B4-BE49-F238E27FC236}">
                <a16:creationId xmlns:a16="http://schemas.microsoft.com/office/drawing/2014/main" id="{8102B658-01B6-62FD-0CA8-B4CCF5FE7DC7}"/>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1677107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E93D4-B929-45E0-B662-888E03322D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R"/>
          </a:p>
        </p:txBody>
      </p:sp>
      <p:sp>
        <p:nvSpPr>
          <p:cNvPr id="3" name="Content Placeholder 2">
            <a:extLst>
              <a:ext uri="{FF2B5EF4-FFF2-40B4-BE49-F238E27FC236}">
                <a16:creationId xmlns:a16="http://schemas.microsoft.com/office/drawing/2014/main" id="{F9D0708B-C000-C860-D335-F27C5D7DF8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Text Placeholder 3">
            <a:extLst>
              <a:ext uri="{FF2B5EF4-FFF2-40B4-BE49-F238E27FC236}">
                <a16:creationId xmlns:a16="http://schemas.microsoft.com/office/drawing/2014/main" id="{E381B2DF-3708-0BF5-0352-B537F69B2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433C9-5C35-7994-0E5A-2D3FFFD1B485}"/>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6" name="Footer Placeholder 5">
            <a:extLst>
              <a:ext uri="{FF2B5EF4-FFF2-40B4-BE49-F238E27FC236}">
                <a16:creationId xmlns:a16="http://schemas.microsoft.com/office/drawing/2014/main" id="{60873275-F9E7-32C5-31EE-43F2184885EE}"/>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CB286F51-CEFB-105D-02F7-20915AA8DFDF}"/>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1251892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796BA-E289-A4E1-ED4F-3CB960E91E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R"/>
          </a:p>
        </p:txBody>
      </p:sp>
      <p:sp>
        <p:nvSpPr>
          <p:cNvPr id="3" name="Picture Placeholder 2">
            <a:extLst>
              <a:ext uri="{FF2B5EF4-FFF2-40B4-BE49-F238E27FC236}">
                <a16:creationId xmlns:a16="http://schemas.microsoft.com/office/drawing/2014/main" id="{E1A538BA-314A-392B-DA49-EC96356C52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R"/>
          </a:p>
        </p:txBody>
      </p:sp>
      <p:sp>
        <p:nvSpPr>
          <p:cNvPr id="4" name="Text Placeholder 3">
            <a:extLst>
              <a:ext uri="{FF2B5EF4-FFF2-40B4-BE49-F238E27FC236}">
                <a16:creationId xmlns:a16="http://schemas.microsoft.com/office/drawing/2014/main" id="{48A7B99C-3775-960C-C250-5E9A867B0E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E1382-F752-F958-936D-2D3693F6CAAC}"/>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6" name="Footer Placeholder 5">
            <a:extLst>
              <a:ext uri="{FF2B5EF4-FFF2-40B4-BE49-F238E27FC236}">
                <a16:creationId xmlns:a16="http://schemas.microsoft.com/office/drawing/2014/main" id="{C17906FE-481B-B308-F09C-718368ED2805}"/>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D87FE993-04F5-3ABB-AC07-BEAFC610C226}"/>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477923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7EDB6-2906-8160-1D62-A3C19C227828}"/>
              </a:ext>
            </a:extLst>
          </p:cNvPr>
          <p:cNvSpPr>
            <a:spLocks noGrp="1"/>
          </p:cNvSpPr>
          <p:nvPr>
            <p:ph type="title"/>
          </p:nvPr>
        </p:nvSpPr>
        <p:spPr/>
        <p:txBody>
          <a:bodyPr/>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04C7554D-5D97-CEA7-3287-1706D56695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087E4E5B-FE2E-65BA-9FFB-C6838DCDE943}"/>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5" name="Footer Placeholder 4">
            <a:extLst>
              <a:ext uri="{FF2B5EF4-FFF2-40B4-BE49-F238E27FC236}">
                <a16:creationId xmlns:a16="http://schemas.microsoft.com/office/drawing/2014/main" id="{1F2C44EE-D1CD-2640-7584-F8112EC3DA71}"/>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7659401-0278-A484-623A-65915A4C1609}"/>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4476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4C972F-33CA-896F-6C7C-A189C7ACDA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D40EB589-39D2-4D59-27D0-B18412E5AE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0CD51242-C4FF-560C-3A87-DE4534CF0A38}"/>
              </a:ext>
            </a:extLst>
          </p:cNvPr>
          <p:cNvSpPr>
            <a:spLocks noGrp="1"/>
          </p:cNvSpPr>
          <p:nvPr>
            <p:ph type="dt" sz="half" idx="10"/>
          </p:nvPr>
        </p:nvSpPr>
        <p:spPr/>
        <p:txBody>
          <a:bodyPr/>
          <a:lstStyle/>
          <a:p>
            <a:fld id="{64DB10D9-959D-514C-8E0A-147A9E312109}" type="datetimeFigureOut">
              <a:rPr lang="en-KR" smtClean="0"/>
              <a:t>7/8/26</a:t>
            </a:fld>
            <a:endParaRPr lang="en-KR"/>
          </a:p>
        </p:txBody>
      </p:sp>
      <p:sp>
        <p:nvSpPr>
          <p:cNvPr id="5" name="Footer Placeholder 4">
            <a:extLst>
              <a:ext uri="{FF2B5EF4-FFF2-40B4-BE49-F238E27FC236}">
                <a16:creationId xmlns:a16="http://schemas.microsoft.com/office/drawing/2014/main" id="{142298AA-F519-8084-AB78-5EFD2752CE94}"/>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3CDDC2A7-ED91-940E-4136-F0E82BA1FE37}"/>
              </a:ext>
            </a:extLst>
          </p:cNvPr>
          <p:cNvSpPr>
            <a:spLocks noGrp="1"/>
          </p:cNvSpPr>
          <p:nvPr>
            <p:ph type="sldNum" sz="quarter" idx="12"/>
          </p:nvPr>
        </p:nvSpPr>
        <p:spPr/>
        <p:txBody>
          <a:bodyPr/>
          <a:lstStyle/>
          <a:p>
            <a:fld id="{7654A9EB-6729-F34F-9B31-3CB59486418C}" type="slidenum">
              <a:rPr lang="en-KR" smtClean="0"/>
              <a:t>‹#›</a:t>
            </a:fld>
            <a:endParaRPr lang="en-KR"/>
          </a:p>
        </p:txBody>
      </p:sp>
    </p:spTree>
    <p:extLst>
      <p:ext uri="{BB962C8B-B14F-4D97-AF65-F5344CB8AC3E}">
        <p14:creationId xmlns:p14="http://schemas.microsoft.com/office/powerpoint/2010/main" val="1745285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CDE416-8240-3852-E1E5-38E5900FA6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R"/>
          </a:p>
        </p:txBody>
      </p:sp>
      <p:sp>
        <p:nvSpPr>
          <p:cNvPr id="3" name="Text Placeholder 2">
            <a:extLst>
              <a:ext uri="{FF2B5EF4-FFF2-40B4-BE49-F238E27FC236}">
                <a16:creationId xmlns:a16="http://schemas.microsoft.com/office/drawing/2014/main" id="{EA9684E3-B10D-5936-BBAC-4E3D00EDF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6A6A4860-2354-9ED1-CD6E-7FBBCB4CDA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DB10D9-959D-514C-8E0A-147A9E312109}" type="datetimeFigureOut">
              <a:rPr lang="en-KR" smtClean="0"/>
              <a:t>7/8/26</a:t>
            </a:fld>
            <a:endParaRPr lang="en-KR"/>
          </a:p>
        </p:txBody>
      </p:sp>
      <p:sp>
        <p:nvSpPr>
          <p:cNvPr id="5" name="Footer Placeholder 4">
            <a:extLst>
              <a:ext uri="{FF2B5EF4-FFF2-40B4-BE49-F238E27FC236}">
                <a16:creationId xmlns:a16="http://schemas.microsoft.com/office/drawing/2014/main" id="{C76D8E83-72E2-4117-32F6-52BBA36695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R"/>
          </a:p>
        </p:txBody>
      </p:sp>
      <p:sp>
        <p:nvSpPr>
          <p:cNvPr id="6" name="Slide Number Placeholder 5">
            <a:extLst>
              <a:ext uri="{FF2B5EF4-FFF2-40B4-BE49-F238E27FC236}">
                <a16:creationId xmlns:a16="http://schemas.microsoft.com/office/drawing/2014/main" id="{CC292D53-EFFA-AE0D-767B-F93798EC1B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54A9EB-6729-F34F-9B31-3CB59486418C}" type="slidenum">
              <a:rPr lang="en-KR" smtClean="0"/>
              <a:t>‹#›</a:t>
            </a:fld>
            <a:endParaRPr lang="en-KR"/>
          </a:p>
        </p:txBody>
      </p:sp>
    </p:spTree>
    <p:extLst>
      <p:ext uri="{BB962C8B-B14F-4D97-AF65-F5344CB8AC3E}">
        <p14:creationId xmlns:p14="http://schemas.microsoft.com/office/powerpoint/2010/main" val="2214611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8B427-E4FC-9192-A128-B733A13D7F78}"/>
              </a:ext>
            </a:extLst>
          </p:cNvPr>
          <p:cNvSpPr>
            <a:spLocks noGrp="1"/>
          </p:cNvSpPr>
          <p:nvPr>
            <p:ph type="ctrTitle"/>
          </p:nvPr>
        </p:nvSpPr>
        <p:spPr>
          <a:xfrm>
            <a:off x="327547" y="642433"/>
            <a:ext cx="11051804" cy="2423159"/>
          </a:xfrm>
        </p:spPr>
        <p:txBody>
          <a:bodyPr>
            <a:noAutofit/>
          </a:bodyPr>
          <a:lstStyle/>
          <a:p>
            <a:r>
              <a:rPr lang="en-KR" sz="4000" dirty="0">
                <a:latin typeface="Times New Roman" panose="02020603050405020304" pitchFamily="18" charset="0"/>
                <a:cs typeface="Times New Roman" panose="02020603050405020304" pitchFamily="18" charset="0"/>
              </a:rPr>
              <a:t>Spatiotemporal Topological Denoising for Identifying Robust Features in Longitudinal Data</a:t>
            </a:r>
          </a:p>
        </p:txBody>
      </p:sp>
      <p:sp>
        <p:nvSpPr>
          <p:cNvPr id="7" name="TextBox 6">
            <a:extLst>
              <a:ext uri="{FF2B5EF4-FFF2-40B4-BE49-F238E27FC236}">
                <a16:creationId xmlns:a16="http://schemas.microsoft.com/office/drawing/2014/main" id="{167CC4E2-3C04-86F8-2305-820E5C6D7256}"/>
              </a:ext>
            </a:extLst>
          </p:cNvPr>
          <p:cNvSpPr txBox="1"/>
          <p:nvPr/>
        </p:nvSpPr>
        <p:spPr>
          <a:xfrm>
            <a:off x="5469867" y="5241110"/>
            <a:ext cx="1252266"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Zhe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LIU</a:t>
            </a:r>
            <a:endParaRPr lang="en-K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135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07F84-4ED6-7F4F-ECE9-63921B767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DC365-DBBF-8CE6-41DF-33268F79697E}"/>
              </a:ext>
            </a:extLst>
          </p:cNvPr>
          <p:cNvSpPr>
            <a:spLocks noGrp="1"/>
          </p:cNvSpPr>
          <p:nvPr>
            <p:ph type="ctrTitle"/>
          </p:nvPr>
        </p:nvSpPr>
        <p:spPr>
          <a:xfrm>
            <a:off x="327547" y="642433"/>
            <a:ext cx="11051804" cy="2423159"/>
          </a:xfrm>
        </p:spPr>
        <p:txBody>
          <a:bodyPr>
            <a:noAutofit/>
          </a:bodyPr>
          <a:lstStyle/>
          <a:p>
            <a:r>
              <a:rPr lang="en-US" altLang="zh-CN" sz="4000" dirty="0">
                <a:latin typeface="Times New Roman" panose="02020603050405020304" pitchFamily="18" charset="0"/>
                <a:cs typeface="Times New Roman" panose="02020603050405020304" pitchFamily="18" charset="0"/>
              </a:rPr>
              <a:t>Introduction</a:t>
            </a:r>
            <a:endParaRPr lang="en-KR"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5497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C9C31-F6DA-9266-240C-2F5E46A5D66C}"/>
              </a:ext>
            </a:extLst>
          </p:cNvPr>
          <p:cNvSpPr>
            <a:spLocks noGrp="1"/>
          </p:cNvSpPr>
          <p:nvPr>
            <p:ph type="title"/>
          </p:nvPr>
        </p:nvSpPr>
        <p:spPr/>
        <p:txBody>
          <a:bodyPr>
            <a:normAutofit/>
          </a:bodyPr>
          <a:lstStyle/>
          <a:p>
            <a:r>
              <a:rPr lang="en-KR" sz="4000" b="1" dirty="0">
                <a:latin typeface="Times New Roman" panose="02020603050405020304" pitchFamily="18" charset="0"/>
                <a:cs typeface="Times New Roman" panose="02020603050405020304" pitchFamily="18" charset="0"/>
              </a:rPr>
              <a:t>Background</a:t>
            </a:r>
            <a:endParaRPr lang="en-KR"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80B40A-6815-C00C-577A-021C81509D90}"/>
              </a:ext>
            </a:extLst>
          </p:cNvPr>
          <p:cNvSpPr>
            <a:spLocks noGrp="1"/>
          </p:cNvSpPr>
          <p:nvPr>
            <p:ph idx="1"/>
          </p:nvPr>
        </p:nvSpPr>
        <p:spPr>
          <a:xfrm>
            <a:off x="838200" y="1825625"/>
            <a:ext cx="10098024" cy="4351338"/>
          </a:xfrm>
        </p:spPr>
        <p:txBody>
          <a:bodyPr>
            <a:normAutofit/>
          </a:bodyPr>
          <a:lstStyle/>
          <a:p>
            <a:r>
              <a:rPr lang="en-KR" sz="2000" dirty="0">
                <a:latin typeface="Times New Roman" panose="02020603050405020304" pitchFamily="18" charset="0"/>
                <a:cs typeface="Times New Roman" panose="02020603050405020304" pitchFamily="18" charset="0"/>
              </a:rPr>
              <a:t>Longitudinal data is essential in clinical and biomedical research, as it captures the dynamic evolution of subjects through repeated measurements over time. </a:t>
            </a:r>
          </a:p>
          <a:p>
            <a:r>
              <a:rPr lang="en-KR" sz="2000" dirty="0">
                <a:latin typeface="Times New Roman" panose="02020603050405020304" pitchFamily="18" charset="0"/>
                <a:cs typeface="Times New Roman" panose="02020603050405020304" pitchFamily="18" charset="0"/>
              </a:rPr>
              <a:t>While this data offers a unique perspective on disease trajectories, the inherent complexity of such datasets poses significant challenges for traditional feature selection methods, creating a bottleneck in identifying robust, clinically actionable biomarkers.</a:t>
            </a:r>
          </a:p>
          <a:p>
            <a:endParaRPr lang="en-K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7895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10165-0586-7658-AFC8-D9DBA8BC828D}"/>
              </a:ext>
            </a:extLst>
          </p:cNvPr>
          <p:cNvSpPr>
            <a:spLocks noGrp="1"/>
          </p:cNvSpPr>
          <p:nvPr>
            <p:ph type="title"/>
          </p:nvPr>
        </p:nvSpPr>
        <p:spPr/>
        <p:txBody>
          <a:bodyPr>
            <a:normAutofit/>
          </a:bodyPr>
          <a:lstStyle/>
          <a:p>
            <a:r>
              <a:rPr lang="en-KR" sz="4000" b="1" dirty="0">
                <a:latin typeface="Times New Roman" panose="02020603050405020304" pitchFamily="18" charset="0"/>
                <a:cs typeface="Times New Roman" panose="02020603050405020304" pitchFamily="18" charset="0"/>
              </a:rPr>
              <a:t>Traditional </a:t>
            </a:r>
            <a:r>
              <a:rPr lang="en-KR" sz="4000" b="1" dirty="0">
                <a:solidFill>
                  <a:srgbClr val="000000"/>
                </a:solidFill>
                <a:latin typeface="Times New Roman" panose="02020603050405020304" pitchFamily="18" charset="0"/>
                <a:cs typeface="Times New Roman" panose="02020603050405020304" pitchFamily="18" charset="0"/>
              </a:rPr>
              <a:t>feature selection approaches</a:t>
            </a:r>
            <a:endParaRPr lang="en-KR" sz="4000" b="1" dirty="0"/>
          </a:p>
        </p:txBody>
      </p:sp>
      <p:sp>
        <p:nvSpPr>
          <p:cNvPr id="3" name="Content Placeholder 2">
            <a:extLst>
              <a:ext uri="{FF2B5EF4-FFF2-40B4-BE49-F238E27FC236}">
                <a16:creationId xmlns:a16="http://schemas.microsoft.com/office/drawing/2014/main" id="{0A478FD3-7F04-06B3-749F-76CF2FB72B51}"/>
              </a:ext>
            </a:extLst>
          </p:cNvPr>
          <p:cNvSpPr>
            <a:spLocks noGrp="1"/>
          </p:cNvSpPr>
          <p:nvPr>
            <p:ph idx="1"/>
          </p:nvPr>
        </p:nvSpPr>
        <p:spPr>
          <a:xfrm>
            <a:off x="838200" y="1825624"/>
            <a:ext cx="11049000" cy="4931435"/>
          </a:xfrm>
        </p:spPr>
        <p:txBody>
          <a:bodyPr>
            <a:normAutofit/>
          </a:bodyPr>
          <a:lstStyle/>
          <a:p>
            <a:pPr marL="0" indent="0">
              <a:buNone/>
            </a:pPr>
            <a:r>
              <a:rPr lang="en-KR" sz="1800" dirty="0">
                <a:latin typeface="Times New Roman" panose="02020603050405020304" pitchFamily="18" charset="0"/>
                <a:cs typeface="Times New Roman" panose="02020603050405020304" pitchFamily="18" charset="0"/>
              </a:rPr>
              <a:t>Existing feature selection approaches—ranging from standard wrapper methods to basic filtering techniques—often fail to address two critical limitations when applied to longitudinal data:</a:t>
            </a:r>
          </a:p>
          <a:p>
            <a:r>
              <a:rPr lang="en-KR" sz="1800" b="1" dirty="0">
                <a:latin typeface="Times New Roman" panose="02020603050405020304" pitchFamily="18" charset="0"/>
                <a:cs typeface="Times New Roman" panose="02020603050405020304" pitchFamily="18" charset="0"/>
              </a:rPr>
              <a:t>Neglect of Temporal Dependencies:</a:t>
            </a:r>
            <a:r>
              <a:rPr lang="en-KR" sz="1800" dirty="0">
                <a:latin typeface="Times New Roman" panose="02020603050405020304" pitchFamily="18" charset="0"/>
                <a:cs typeface="Times New Roman" panose="02020603050405020304" pitchFamily="18" charset="0"/>
              </a:rPr>
              <a:t> Traditional algorithms typically assume that observations are independent and identically distributed (i.i.d.). </a:t>
            </a:r>
          </a:p>
          <a:p>
            <a:pPr lvl="1"/>
            <a:r>
              <a:rPr lang="en-KR" sz="1800" dirty="0">
                <a:latin typeface="Times New Roman" panose="02020603050405020304" pitchFamily="18" charset="0"/>
                <a:cs typeface="Times New Roman" panose="02020603050405020304" pitchFamily="18" charset="0"/>
              </a:rPr>
              <a:t>However, longitudinal data is defined by strong temporal correlations</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lvl="1"/>
            <a:r>
              <a:rPr lang="en-KR" sz="1800" dirty="0">
                <a:latin typeface="Times New Roman" panose="02020603050405020304" pitchFamily="18" charset="0"/>
                <a:cs typeface="Times New Roman" panose="02020603050405020304" pitchFamily="18" charset="0"/>
              </a:rPr>
              <a:t>By treating </a:t>
            </a:r>
            <a:r>
              <a:rPr lang="en-US" altLang="zh-CN" sz="1800" dirty="0">
                <a:latin typeface="Times New Roman" panose="02020603050405020304" pitchFamily="18" charset="0"/>
                <a:cs typeface="Times New Roman" panose="02020603050405020304" pitchFamily="18" charset="0"/>
              </a:rPr>
              <a:t>them</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as</a:t>
            </a:r>
            <a:r>
              <a:rPr lang="zh-CN" altLang="en-US" sz="1800" dirty="0">
                <a:latin typeface="Times New Roman" panose="02020603050405020304" pitchFamily="18" charset="0"/>
                <a:cs typeface="Times New Roman" panose="02020603050405020304" pitchFamily="18" charset="0"/>
              </a:rPr>
              <a:t> </a:t>
            </a:r>
            <a:r>
              <a:rPr lang="en-KR" sz="1800" dirty="0">
                <a:latin typeface="Times New Roman" panose="02020603050405020304" pitchFamily="18" charset="0"/>
                <a:cs typeface="Times New Roman" panose="02020603050405020304" pitchFamily="18" charset="0"/>
              </a:rPr>
              <a:t>independent features, these methods fail to capture meaningful temporal patterns and are prone to overfitting.</a:t>
            </a:r>
          </a:p>
          <a:p>
            <a:pPr lvl="1"/>
            <a:endParaRPr lang="en-KR" sz="1800" dirty="0">
              <a:latin typeface="Times New Roman" panose="02020603050405020304" pitchFamily="18" charset="0"/>
              <a:cs typeface="Times New Roman" panose="02020603050405020304" pitchFamily="18" charset="0"/>
            </a:endParaRPr>
          </a:p>
          <a:p>
            <a:r>
              <a:rPr lang="en-KR" sz="1800" b="1" dirty="0">
                <a:latin typeface="Times New Roman" panose="02020603050405020304" pitchFamily="18" charset="0"/>
                <a:cs typeface="Times New Roman" panose="02020603050405020304" pitchFamily="18" charset="0"/>
              </a:rPr>
              <a:t>Lack of Robustness to Noise:</a:t>
            </a:r>
            <a:r>
              <a:rPr lang="en-KR" sz="1800" dirty="0">
                <a:latin typeface="Times New Roman" panose="02020603050405020304" pitchFamily="18" charset="0"/>
                <a:cs typeface="Times New Roman" panose="02020603050405020304" pitchFamily="18" charset="0"/>
              </a:rPr>
              <a:t> </a:t>
            </a:r>
          </a:p>
          <a:p>
            <a:pPr lvl="1"/>
            <a:r>
              <a:rPr lang="en-KR" sz="1800" dirty="0">
                <a:latin typeface="Times New Roman" panose="02020603050405020304" pitchFamily="18" charset="0"/>
                <a:cs typeface="Times New Roman" panose="02020603050405020304" pitchFamily="18" charset="0"/>
              </a:rPr>
              <a:t>Clinical data is frequently plagued by measurement errors, batch effects, and erratic trajectories arising from patient heterogeneity. </a:t>
            </a:r>
            <a:r>
              <a:rPr lang="zh-CN" altLang="en-US"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lvl="1"/>
            <a:r>
              <a:rPr lang="en-KR" sz="1800" dirty="0">
                <a:latin typeface="Times New Roman" panose="02020603050405020304" pitchFamily="18" charset="0"/>
                <a:cs typeface="Times New Roman" panose="02020603050405020304" pitchFamily="18" charset="0"/>
              </a:rPr>
              <a:t>Most conventional methods lack a dedicated denoising mechanism, often misinterpreting these random fluctuations as significant biological signals. </a:t>
            </a:r>
          </a:p>
          <a:p>
            <a:pPr lvl="1"/>
            <a:r>
              <a:rPr lang="en-KR" sz="1800" dirty="0">
                <a:latin typeface="Times New Roman" panose="02020603050405020304" pitchFamily="18" charset="0"/>
                <a:cs typeface="Times New Roman" panose="02020603050405020304" pitchFamily="18" charset="0"/>
              </a:rPr>
              <a:t>This results in the selection of spurious features that lack generalizability and biological interpretability</a:t>
            </a:r>
          </a:p>
        </p:txBody>
      </p:sp>
    </p:spTree>
    <p:extLst>
      <p:ext uri="{BB962C8B-B14F-4D97-AF65-F5344CB8AC3E}">
        <p14:creationId xmlns:p14="http://schemas.microsoft.com/office/powerpoint/2010/main" val="222994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2A881-13B2-787D-CB5D-38EF00DCEE07}"/>
              </a:ext>
            </a:extLst>
          </p:cNvPr>
          <p:cNvSpPr>
            <a:spLocks noGrp="1"/>
          </p:cNvSpPr>
          <p:nvPr>
            <p:ph type="title"/>
          </p:nvPr>
        </p:nvSpPr>
        <p:spPr/>
        <p:txBody>
          <a:bodyPr/>
          <a:lstStyle/>
          <a:p>
            <a:r>
              <a:rPr lang="en-KR"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1667D40B-B649-90EB-F504-96DF9C2CD48A}"/>
              </a:ext>
            </a:extLst>
          </p:cNvPr>
          <p:cNvSpPr>
            <a:spLocks noGrp="1"/>
          </p:cNvSpPr>
          <p:nvPr>
            <p:ph idx="1"/>
          </p:nvPr>
        </p:nvSpPr>
        <p:spPr/>
        <p:txBody>
          <a:bodyPr>
            <a:normAutofit/>
          </a:bodyPr>
          <a:lstStyle/>
          <a:p>
            <a:r>
              <a:rPr lang="en-KR" sz="1800" dirty="0">
                <a:latin typeface="Times New Roman" panose="02020603050405020304" pitchFamily="18" charset="0"/>
                <a:cs typeface="Times New Roman" panose="02020603050405020304" pitchFamily="18" charset="0"/>
              </a:rPr>
              <a:t>To overcome these challenges, we introduce the </a:t>
            </a:r>
            <a:r>
              <a:rPr lang="en-KR" sz="1800" b="1" dirty="0">
                <a:latin typeface="Times New Roman" panose="02020603050405020304" pitchFamily="18" charset="0"/>
                <a:cs typeface="Times New Roman" panose="02020603050405020304" pitchFamily="18" charset="0"/>
              </a:rPr>
              <a:t>Spatiotemporal Topological Denoising (STTD)</a:t>
            </a:r>
            <a:r>
              <a:rPr lang="en-KR" sz="1800" dirty="0">
                <a:latin typeface="Times New Roman" panose="02020603050405020304" pitchFamily="18" charset="0"/>
                <a:cs typeface="Times New Roman" panose="02020603050405020304" pitchFamily="18" charset="0"/>
              </a:rPr>
              <a:t> framework.</a:t>
            </a:r>
          </a:p>
          <a:p>
            <a:r>
              <a:rPr lang="en-KR" sz="1800" dirty="0">
                <a:latin typeface="Times New Roman" panose="02020603050405020304" pitchFamily="18" charset="0"/>
                <a:cs typeface="Times New Roman" panose="02020603050405020304" pitchFamily="18" charset="0"/>
              </a:rPr>
              <a:t>Unlike conventional methods, STTD moves beyond simple correlation analysis by integrating a dual-stream architecture:</a:t>
            </a:r>
          </a:p>
          <a:p>
            <a:pPr lvl="1"/>
            <a:r>
              <a:rPr lang="en-KR" sz="1800" b="1" dirty="0">
                <a:latin typeface="Times New Roman" panose="02020603050405020304" pitchFamily="18" charset="0"/>
                <a:cs typeface="Times New Roman" panose="02020603050405020304" pitchFamily="18" charset="0"/>
              </a:rPr>
              <a:t>Spatial Topological Stream:</a:t>
            </a:r>
            <a:r>
              <a:rPr lang="en-KR" sz="1800" dirty="0">
                <a:latin typeface="Times New Roman" panose="02020603050405020304" pitchFamily="18" charset="0"/>
                <a:cs typeface="Times New Roman" panose="02020603050405020304" pitchFamily="18" charset="0"/>
              </a:rPr>
              <a:t> Utilizes Shared Nearest Neighbor (SNN) clustering to identify and weight samples based on their density in the feature space, effectively identifying samples that are potentially noisy.</a:t>
            </a:r>
          </a:p>
          <a:p>
            <a:pPr lvl="1"/>
            <a:endParaRPr lang="en-KR" sz="1800" dirty="0">
              <a:latin typeface="Times New Roman" panose="02020603050405020304" pitchFamily="18" charset="0"/>
              <a:cs typeface="Times New Roman" panose="02020603050405020304" pitchFamily="18" charset="0"/>
            </a:endParaRPr>
          </a:p>
          <a:p>
            <a:pPr lvl="1"/>
            <a:r>
              <a:rPr lang="en-KR" sz="1800" b="1" dirty="0">
                <a:latin typeface="Times New Roman" panose="02020603050405020304" pitchFamily="18" charset="0"/>
                <a:cs typeface="Times New Roman" panose="02020603050405020304" pitchFamily="18" charset="0"/>
              </a:rPr>
              <a:t>Temporal Trajectory Stream:</a:t>
            </a:r>
            <a:r>
              <a:rPr lang="en-KR" sz="1800" dirty="0">
                <a:latin typeface="Times New Roman" panose="02020603050405020304" pitchFamily="18" charset="0"/>
                <a:cs typeface="Times New Roman" panose="02020603050405020304" pitchFamily="18" charset="0"/>
              </a:rPr>
              <a:t> Aligns data to score the consistency of trajectories, thereby filtering out erratic, non-physiological fluctuations.</a:t>
            </a:r>
          </a:p>
          <a:p>
            <a:pPr lvl="1"/>
            <a:endParaRPr lang="en-KR" sz="1800" dirty="0">
              <a:latin typeface="Times New Roman" panose="02020603050405020304" pitchFamily="18" charset="0"/>
              <a:cs typeface="Times New Roman" panose="02020603050405020304" pitchFamily="18" charset="0"/>
            </a:endParaRPr>
          </a:p>
          <a:p>
            <a:r>
              <a:rPr lang="en-KR" sz="1800" dirty="0">
                <a:latin typeface="Times New Roman" panose="02020603050405020304" pitchFamily="18" charset="0"/>
                <a:cs typeface="Times New Roman" panose="02020603050405020304" pitchFamily="18" charset="0"/>
              </a:rPr>
              <a:t>By fusing these streams, the STTD framework reconstructs a robust feature space prior to selection, enabling the identification of biomarkers that are not only statistically significant but also biologically consistent across time.</a:t>
            </a:r>
          </a:p>
          <a:p>
            <a:endParaRPr lang="en-KR" sz="2400" dirty="0"/>
          </a:p>
        </p:txBody>
      </p:sp>
    </p:spTree>
    <p:extLst>
      <p:ext uri="{BB962C8B-B14F-4D97-AF65-F5344CB8AC3E}">
        <p14:creationId xmlns:p14="http://schemas.microsoft.com/office/powerpoint/2010/main" val="4242500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BB25-DD16-AE2D-D3B9-4A2211262615}"/>
              </a:ext>
            </a:extLst>
          </p:cNvPr>
          <p:cNvSpPr>
            <a:spLocks noGrp="1"/>
          </p:cNvSpPr>
          <p:nvPr>
            <p:ph type="title"/>
          </p:nvPr>
        </p:nvSpPr>
        <p:spPr/>
        <p:txBody>
          <a:bodyPr/>
          <a:lstStyle/>
          <a:p>
            <a:r>
              <a:rPr lang="en-KR" dirty="0">
                <a:latin typeface="Times New Roman" panose="02020603050405020304" pitchFamily="18" charset="0"/>
                <a:cs typeface="Times New Roman" panose="02020603050405020304" pitchFamily="18" charset="0"/>
              </a:rPr>
              <a:t>Methods</a:t>
            </a:r>
          </a:p>
        </p:txBody>
      </p:sp>
      <p:sp>
        <p:nvSpPr>
          <p:cNvPr id="3" name="Content Placeholder 2">
            <a:extLst>
              <a:ext uri="{FF2B5EF4-FFF2-40B4-BE49-F238E27FC236}">
                <a16:creationId xmlns:a16="http://schemas.microsoft.com/office/drawing/2014/main" id="{7BC08F23-FCE0-847A-1385-EA6D1B8E4882}"/>
              </a:ext>
            </a:extLst>
          </p:cNvPr>
          <p:cNvSpPr>
            <a:spLocks noGrp="1"/>
          </p:cNvSpPr>
          <p:nvPr>
            <p:ph idx="1"/>
          </p:nvPr>
        </p:nvSpPr>
        <p:spPr/>
        <p:txBody>
          <a:bodyPr/>
          <a:lstStyle/>
          <a:p>
            <a:endParaRPr lang="en-KR" dirty="0"/>
          </a:p>
        </p:txBody>
      </p:sp>
    </p:spTree>
    <p:extLst>
      <p:ext uri="{BB962C8B-B14F-4D97-AF65-F5344CB8AC3E}">
        <p14:creationId xmlns:p14="http://schemas.microsoft.com/office/powerpoint/2010/main" val="1280303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85835-BF74-B129-2429-AE19EA7FE7B3}"/>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SOTA</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methods</a:t>
            </a:r>
            <a:endParaRPr lang="en-K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19466F-D943-CB61-3838-EE6753944EE7}"/>
              </a:ext>
            </a:extLst>
          </p:cNvPr>
          <p:cNvSpPr>
            <a:spLocks noGrp="1"/>
          </p:cNvSpPr>
          <p:nvPr>
            <p:ph idx="1"/>
          </p:nvPr>
        </p:nvSpPr>
        <p:spPr>
          <a:xfrm>
            <a:off x="838199" y="1825624"/>
            <a:ext cx="10969487" cy="3969528"/>
          </a:xfrm>
        </p:spPr>
        <p:txBody>
          <a:bodyPr>
            <a:normAutofit/>
          </a:bodyPr>
          <a:lstStyle/>
          <a:p>
            <a:pPr marL="0" indent="0">
              <a:buNone/>
            </a:pP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BiMM</a:t>
            </a:r>
            <a:r>
              <a:rPr lang="en-US" sz="2000" b="1" dirty="0">
                <a:latin typeface="Times New Roman" panose="02020603050405020304" pitchFamily="18" charset="0"/>
                <a:cs typeface="Times New Roman" panose="02020603050405020304" pitchFamily="18" charset="0"/>
              </a:rPr>
              <a:t> forest </a:t>
            </a:r>
            <a:r>
              <a:rPr lang="en-US" sz="2000" dirty="0">
                <a:latin typeface="Times New Roman" panose="02020603050405020304" pitchFamily="18" charset="0"/>
                <a:cs typeface="Times New Roman" panose="02020603050405020304" pitchFamily="18" charset="0"/>
              </a:rPr>
              <a:t>combines a binary mixed model framework with feature selection methods like </a:t>
            </a:r>
            <a:r>
              <a:rPr lang="en-US" sz="2000" b="1" dirty="0">
                <a:solidFill>
                  <a:srgbClr val="C00000"/>
                </a:solidFill>
                <a:latin typeface="Times New Roman" panose="02020603050405020304" pitchFamily="18" charset="0"/>
                <a:cs typeface="Times New Roman" panose="02020603050405020304" pitchFamily="18" charset="0"/>
              </a:rPr>
              <a:t>backward elimination or stepwise selection</a:t>
            </a:r>
            <a:r>
              <a:rPr lang="zh-CN" altLang="en-US" sz="2000" b="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(w</a:t>
            </a:r>
            <a:r>
              <a:rPr lang="en-US" sz="2000" b="1" dirty="0">
                <a:solidFill>
                  <a:srgbClr val="C00000"/>
                </a:solidFill>
                <a:latin typeface="Times New Roman" panose="02020603050405020304" pitchFamily="18" charset="0"/>
                <a:cs typeface="Times New Roman" panose="02020603050405020304" pitchFamily="18" charset="0"/>
              </a:rPr>
              <a:t>rapper</a:t>
            </a:r>
            <a:r>
              <a:rPr lang="zh-CN" altLang="en-US" sz="2000" b="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methods)</a:t>
            </a:r>
            <a:r>
              <a:rPr lang="en-US" sz="2000" b="1" dirty="0">
                <a:solidFill>
                  <a:srgbClr val="C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handle clustered and longitudinal binary outcomes</a:t>
            </a:r>
            <a:r>
              <a:rPr lang="zh-CN" altLang="en-US" sz="2000" dirty="0">
                <a:latin typeface="Times New Roman" panose="02020603050405020304" pitchFamily="18" charset="0"/>
                <a:cs typeface="Times New Roman" panose="02020603050405020304" pitchFamily="18" charset="0"/>
              </a:rPr>
              <a:t> </a:t>
            </a:r>
            <a:r>
              <a:rPr lang="en-US" altLang="zh-CN" sz="2000" baseline="30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r>
              <a:rPr lang="en-US" altLang="zh-CN" sz="2000" b="1" dirty="0">
                <a:latin typeface="Times New Roman" panose="02020603050405020304" pitchFamily="18" charset="0"/>
                <a:cs typeface="Times New Roman" panose="02020603050405020304" pitchFamily="18" charset="0"/>
              </a:rPr>
              <a:t>2.</a:t>
            </a:r>
            <a:r>
              <a:rPr lang="zh-CN" altLang="en-US"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a:t>
            </a:r>
            <a:r>
              <a:rPr lang="en-US" sz="2000" b="1" dirty="0" err="1">
                <a:latin typeface="Times New Roman" panose="02020603050405020304" pitchFamily="18" charset="0"/>
                <a:cs typeface="Times New Roman" panose="02020603050405020304" pitchFamily="18" charset="0"/>
              </a:rPr>
              <a:t>Exh</a:t>
            </a:r>
            <a:r>
              <a:rPr lang="en-US" sz="2000" b="1" dirty="0">
                <a:latin typeface="Times New Roman" panose="02020603050405020304" pitchFamily="18" charset="0"/>
                <a:cs typeface="Times New Roman" panose="02020603050405020304" pitchFamily="18" charset="0"/>
              </a:rPr>
              <a:t>-CFS-Gr method </a:t>
            </a:r>
            <a:r>
              <a:rPr lang="en-US" sz="2000" dirty="0">
                <a:latin typeface="Times New Roman" panose="02020603050405020304" pitchFamily="18" charset="0"/>
                <a:cs typeface="Times New Roman" panose="02020603050405020304" pitchFamily="18" charset="0"/>
              </a:rPr>
              <a:t>applies </a:t>
            </a:r>
            <a:r>
              <a:rPr lang="en-US" sz="2000" b="1" dirty="0">
                <a:solidFill>
                  <a:srgbClr val="C00000"/>
                </a:solidFill>
                <a:latin typeface="Times New Roman" panose="02020603050405020304" pitchFamily="18" charset="0"/>
                <a:cs typeface="Times New Roman" panose="02020603050405020304" pitchFamily="18" charset="0"/>
              </a:rPr>
              <a:t>correlation-based feature selection within each group</a:t>
            </a:r>
            <a:r>
              <a:rPr lang="en-US" sz="2000" dirty="0">
                <a:solidFill>
                  <a:srgbClr val="C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 temporally related features (conceptual + constructed longitudinal features) </a:t>
            </a:r>
            <a:r>
              <a:rPr lang="en-US" sz="2000" b="1" dirty="0">
                <a:solidFill>
                  <a:srgbClr val="C00000"/>
                </a:solidFill>
                <a:latin typeface="Times New Roman" panose="02020603050405020304" pitchFamily="18" charset="0"/>
                <a:cs typeface="Times New Roman" panose="02020603050405020304" pitchFamily="18" charset="0"/>
              </a:rPr>
              <a:t>using exhaustive search</a:t>
            </a:r>
            <a:r>
              <a:rPr lang="zh-CN" altLang="en-US" sz="2000" dirty="0">
                <a:solidFill>
                  <a:srgbClr val="C00000"/>
                </a:solidFill>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(m</a:t>
            </a:r>
            <a:r>
              <a:rPr lang="en-US" sz="2000" dirty="0">
                <a:latin typeface="Times New Roman" panose="02020603050405020304" pitchFamily="18" charset="0"/>
                <a:cs typeface="Times New Roman" panose="02020603050405020304" pitchFamily="18" charset="0"/>
              </a:rPr>
              <a:t>aximizing relevance with the class label and </a:t>
            </a:r>
            <a:r>
              <a:rPr lang="en-US" altLang="zh-CN" sz="2000" dirty="0">
                <a:latin typeface="Times New Roman" panose="02020603050405020304" pitchFamily="18" charset="0"/>
                <a:cs typeface="Times New Roman" panose="02020603050405020304" pitchFamily="18" charset="0"/>
              </a:rPr>
              <a:t>m</a:t>
            </a:r>
            <a:r>
              <a:rPr lang="en-US" sz="2000" dirty="0">
                <a:latin typeface="Times New Roman" panose="02020603050405020304" pitchFamily="18" charset="0"/>
                <a:cs typeface="Times New Roman" panose="02020603050405020304" pitchFamily="18" charset="0"/>
              </a:rPr>
              <a:t>inimizing redundancy among features</a:t>
            </a:r>
            <a:r>
              <a:rPr lang="en-US" altLang="zh-C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then merges the selected subsets for final output</a:t>
            </a:r>
            <a:r>
              <a:rPr lang="zh-CN" altLang="en-US" sz="2000" dirty="0">
                <a:latin typeface="Times New Roman" panose="02020603050405020304" pitchFamily="18" charset="0"/>
                <a:cs typeface="Times New Roman" panose="02020603050405020304" pitchFamily="18" charset="0"/>
              </a:rPr>
              <a:t> </a:t>
            </a:r>
            <a:r>
              <a:rPr lang="en-US" altLang="zh-CN"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t>
            </a:r>
          </a:p>
          <a:p>
            <a:pPr marL="0" indent="0">
              <a:buNone/>
            </a:pPr>
            <a:endParaRPr lang="en-US" altLang="zh-CN" sz="2000" b="1" dirty="0">
              <a:latin typeface="Times New Roman" panose="02020603050405020304" pitchFamily="18" charset="0"/>
              <a:cs typeface="Times New Roman" panose="02020603050405020304" pitchFamily="18" charset="0"/>
            </a:endParaRPr>
          </a:p>
          <a:p>
            <a:pPr marL="0" indent="0">
              <a:buNone/>
            </a:pPr>
            <a:r>
              <a:rPr lang="en-US" altLang="zh-CN" sz="2000" b="1" dirty="0">
                <a:latin typeface="Times New Roman" panose="02020603050405020304" pitchFamily="18" charset="0"/>
                <a:cs typeface="Times New Roman" panose="02020603050405020304" pitchFamily="18" charset="0"/>
              </a:rPr>
              <a:t>3.</a:t>
            </a:r>
            <a:r>
              <a:rPr lang="zh-CN" altLang="en-US"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Select features by maximizing a temporal margin</a:t>
            </a:r>
            <a:r>
              <a:rPr lang="en-US" sz="2000" dirty="0">
                <a:latin typeface="Times New Roman" panose="02020603050405020304" pitchFamily="18" charset="0"/>
                <a:cs typeface="Times New Roman" panose="02020603050405020304" pitchFamily="18" charset="0"/>
              </a:rPr>
              <a:t>, prioritizing those whose </a:t>
            </a:r>
            <a:r>
              <a:rPr lang="en-US" sz="2000" b="1" dirty="0">
                <a:solidFill>
                  <a:srgbClr val="C00000"/>
                </a:solidFill>
                <a:latin typeface="Times New Roman" panose="02020603050405020304" pitchFamily="18" charset="0"/>
                <a:cs typeface="Times New Roman" panose="02020603050405020304" pitchFamily="18" charset="0"/>
              </a:rPr>
              <a:t>weighted values best distinguish differences between time points</a:t>
            </a:r>
            <a:r>
              <a:rPr lang="en-US" sz="2000" dirty="0">
                <a:latin typeface="Times New Roman" panose="02020603050405020304" pitchFamily="18" charset="0"/>
                <a:cs typeface="Times New Roman" panose="02020603050405020304" pitchFamily="18" charset="0"/>
              </a:rPr>
              <a:t>, thereby capturing meaningful temporal patterns</a:t>
            </a:r>
            <a:r>
              <a:rPr lang="zh-CN" altLang="en-US" sz="2000" dirty="0">
                <a:latin typeface="Times New Roman" panose="02020603050405020304" pitchFamily="18" charset="0"/>
                <a:cs typeface="Times New Roman" panose="02020603050405020304" pitchFamily="18" charset="0"/>
              </a:rPr>
              <a:t> </a:t>
            </a:r>
            <a:r>
              <a:rPr lang="en-US" altLang="zh-CN" sz="2000" baseline="30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a:t>
            </a:r>
            <a:r>
              <a:rPr lang="en-US" sz="2000" dirty="0"/>
              <a:t> </a:t>
            </a:r>
            <a:endParaRPr lang="en-US" sz="2000" dirty="0">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CBEB0C62-9CAF-1C19-158D-EFA7BF786DB0}"/>
              </a:ext>
            </a:extLst>
          </p:cNvPr>
          <p:cNvSpPr>
            <a:spLocks noChangeArrowheads="1"/>
          </p:cNvSpPr>
          <p:nvPr/>
        </p:nvSpPr>
        <p:spPr bwMode="auto">
          <a:xfrm>
            <a:off x="2966417" y="428804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KR" altLang="en-KR" sz="1800" b="0" i="0" u="none" strike="noStrike" cap="none" normalizeH="0" baseline="0">
                <a:ln>
                  <a:noFill/>
                </a:ln>
                <a:solidFill>
                  <a:schemeClr val="tx1"/>
                </a:solidFill>
                <a:effectLst/>
                <a:latin typeface="Arial" panose="020B0604020202020204" pitchFamily="34" charset="0"/>
              </a:rPr>
            </a:br>
            <a:endParaRPr kumimoji="0" lang="en-KR" altLang="en-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4638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8A440-F17B-7AED-387F-5F5E13698F0B}"/>
              </a:ext>
            </a:extLst>
          </p:cNvPr>
          <p:cNvSpPr>
            <a:spLocks noGrp="1"/>
          </p:cNvSpPr>
          <p:nvPr>
            <p:ph type="title"/>
          </p:nvPr>
        </p:nvSpPr>
        <p:spPr/>
        <p:txBody>
          <a:bodyPr/>
          <a:lstStyle/>
          <a:p>
            <a:r>
              <a:rPr lang="en-KR"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B9BBA213-F4F3-9B75-6D3B-1518F145D5D5}"/>
              </a:ext>
            </a:extLst>
          </p:cNvPr>
          <p:cNvSpPr>
            <a:spLocks noGrp="1"/>
          </p:cNvSpPr>
          <p:nvPr>
            <p:ph idx="1"/>
          </p:nvPr>
        </p:nvSpPr>
        <p:spPr/>
        <p:txBody>
          <a:bodyPr/>
          <a:lstStyle/>
          <a:p>
            <a:endParaRPr lang="en-KR" dirty="0"/>
          </a:p>
        </p:txBody>
      </p:sp>
    </p:spTree>
    <p:extLst>
      <p:ext uri="{BB962C8B-B14F-4D97-AF65-F5344CB8AC3E}">
        <p14:creationId xmlns:p14="http://schemas.microsoft.com/office/powerpoint/2010/main" val="199933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C991-27CB-FB82-C537-ADFC00F88297}"/>
              </a:ext>
            </a:extLst>
          </p:cNvPr>
          <p:cNvSpPr>
            <a:spLocks noGrp="1"/>
          </p:cNvSpPr>
          <p:nvPr>
            <p:ph type="title"/>
          </p:nvPr>
        </p:nvSpPr>
        <p:spPr/>
        <p:txBody>
          <a:bodyPr/>
          <a:lstStyle/>
          <a:p>
            <a:r>
              <a:rPr lang="en-US" dirty="0">
                <a:solidFill>
                  <a:schemeClr val="dk1"/>
                </a:solidFill>
                <a:latin typeface="Times New Roman" panose="02020603050405020304" pitchFamily="18" charset="0"/>
                <a:cs typeface="Times New Roman" panose="02020603050405020304" pitchFamily="18" charset="0"/>
              </a:rPr>
              <a:t>Data </a:t>
            </a:r>
            <a:r>
              <a:rPr lang="en-US" altLang="zh-CN" dirty="0">
                <a:solidFill>
                  <a:schemeClr val="dk1"/>
                </a:solidFill>
                <a:latin typeface="Times New Roman" panose="02020603050405020304" pitchFamily="18" charset="0"/>
                <a:cs typeface="Times New Roman" panose="02020603050405020304" pitchFamily="18" charset="0"/>
              </a:rPr>
              <a:t>A</a:t>
            </a:r>
            <a:r>
              <a:rPr lang="en-US" dirty="0">
                <a:solidFill>
                  <a:schemeClr val="dk1"/>
                </a:solidFill>
                <a:latin typeface="Times New Roman" panose="02020603050405020304" pitchFamily="18" charset="0"/>
                <a:cs typeface="Times New Roman" panose="02020603050405020304" pitchFamily="18" charset="0"/>
              </a:rPr>
              <a:t>vailability</a:t>
            </a:r>
            <a:endParaRPr lang="en-KR" dirty="0"/>
          </a:p>
        </p:txBody>
      </p:sp>
      <p:graphicFrame>
        <p:nvGraphicFramePr>
          <p:cNvPr id="6" name="Content Placeholder 5">
            <a:extLst>
              <a:ext uri="{FF2B5EF4-FFF2-40B4-BE49-F238E27FC236}">
                <a16:creationId xmlns:a16="http://schemas.microsoft.com/office/drawing/2014/main" id="{E098752C-5A85-BBD4-E4CB-48EBCDD576CA}"/>
              </a:ext>
            </a:extLst>
          </p:cNvPr>
          <p:cNvGraphicFramePr>
            <a:graphicFrameLocks noGrp="1"/>
          </p:cNvGraphicFramePr>
          <p:nvPr>
            <p:ph idx="1"/>
            <p:extLst>
              <p:ext uri="{D42A27DB-BD31-4B8C-83A1-F6EECF244321}">
                <p14:modId xmlns:p14="http://schemas.microsoft.com/office/powerpoint/2010/main" val="1051635636"/>
              </p:ext>
            </p:extLst>
          </p:nvPr>
        </p:nvGraphicFramePr>
        <p:xfrm>
          <a:off x="838200" y="1986001"/>
          <a:ext cx="10644660" cy="3749040"/>
        </p:xfrm>
        <a:graphic>
          <a:graphicData uri="http://schemas.openxmlformats.org/drawingml/2006/table">
            <a:tbl>
              <a:tblPr firstRow="1" bandRow="1">
                <a:tableStyleId>{B301B821-A1FF-4177-AEE7-76D212191A09}</a:tableStyleId>
              </a:tblPr>
              <a:tblGrid>
                <a:gridCol w="1860030">
                  <a:extLst>
                    <a:ext uri="{9D8B030D-6E8A-4147-A177-3AD203B41FA5}">
                      <a16:colId xmlns:a16="http://schemas.microsoft.com/office/drawing/2014/main" val="2471929805"/>
                    </a:ext>
                  </a:extLst>
                </a:gridCol>
                <a:gridCol w="4747599">
                  <a:extLst>
                    <a:ext uri="{9D8B030D-6E8A-4147-A177-3AD203B41FA5}">
                      <a16:colId xmlns:a16="http://schemas.microsoft.com/office/drawing/2014/main" val="2633250203"/>
                    </a:ext>
                  </a:extLst>
                </a:gridCol>
                <a:gridCol w="4037031">
                  <a:extLst>
                    <a:ext uri="{9D8B030D-6E8A-4147-A177-3AD203B41FA5}">
                      <a16:colId xmlns:a16="http://schemas.microsoft.com/office/drawing/2014/main" val="2828858201"/>
                    </a:ext>
                  </a:extLst>
                </a:gridCol>
              </a:tblGrid>
              <a:tr h="277173">
                <a:tc>
                  <a:txBody>
                    <a:bodyPr/>
                    <a:lstStyle/>
                    <a:p>
                      <a:pPr algn="ctr"/>
                      <a:r>
                        <a:rPr lang="en-US" altLang="zh-CN">
                          <a:latin typeface="Times New Roman" panose="02020603050405020304" pitchFamily="18" charset="0"/>
                          <a:cs typeface="Times New Roman" panose="02020603050405020304" pitchFamily="18" charset="0"/>
                        </a:rPr>
                        <a:t>Dataset</a:t>
                      </a: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latin typeface="Times New Roman" panose="02020603050405020304" pitchFamily="18" charset="0"/>
                          <a:cs typeface="Times New Roman" panose="02020603050405020304" pitchFamily="18" charset="0"/>
                        </a:rPr>
                        <a:t>Description</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a:latin typeface="Times New Roman" panose="02020603050405020304" pitchFamily="18" charset="0"/>
                          <a:cs typeface="Times New Roman" panose="02020603050405020304" pitchFamily="18" charset="0"/>
                        </a:rPr>
                        <a:t>Data</a:t>
                      </a:r>
                      <a:r>
                        <a:rPr lang="zh-CN" altLang="en-US">
                          <a:latin typeface="Times New Roman" panose="02020603050405020304" pitchFamily="18" charset="0"/>
                          <a:cs typeface="Times New Roman" panose="02020603050405020304" pitchFamily="18" charset="0"/>
                        </a:rPr>
                        <a:t> </a:t>
                      </a:r>
                      <a:r>
                        <a:rPr lang="en-US" altLang="zh-CN">
                          <a:latin typeface="Times New Roman" panose="02020603050405020304" pitchFamily="18" charset="0"/>
                          <a:cs typeface="Times New Roman" panose="02020603050405020304" pitchFamily="18" charset="0"/>
                        </a:rPr>
                        <a:t>source</a:t>
                      </a: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9575677"/>
                  </a:ext>
                </a:extLst>
              </a:tr>
              <a:tr h="11086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Korea</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COVID-19</a:t>
                      </a: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Times New Roman" panose="02020603050405020304" pitchFamily="18" charset="0"/>
                          <a:cs typeface="Times New Roman" panose="02020603050405020304" pitchFamily="18" charset="0"/>
                        </a:rPr>
                        <a:t>Longitudinal data with </a:t>
                      </a:r>
                      <a:r>
                        <a:rPr lang="en-US" altLang="zh-CN" sz="1800" b="1" kern="1200" dirty="0">
                          <a:solidFill>
                            <a:schemeClr val="dk1"/>
                          </a:solidFill>
                          <a:latin typeface="Times New Roman" panose="02020603050405020304" pitchFamily="18" charset="0"/>
                          <a:cs typeface="Times New Roman" panose="02020603050405020304" pitchFamily="18" charset="0"/>
                        </a:rPr>
                        <a:t>i</a:t>
                      </a:r>
                      <a:r>
                        <a:rPr lang="en-US" sz="1800" b="1" kern="1200" dirty="0">
                          <a:solidFill>
                            <a:schemeClr val="dk1"/>
                          </a:solidFill>
                          <a:latin typeface="Times New Roman" panose="02020603050405020304" pitchFamily="18" charset="0"/>
                          <a:cs typeface="Times New Roman" panose="02020603050405020304" pitchFamily="18" charset="0"/>
                        </a:rPr>
                        <a:t>nflammatory and immune-related protein profiling</a:t>
                      </a:r>
                      <a:r>
                        <a:rPr lang="zh-CN" altLang="en-US" sz="1800" b="1" kern="1200" dirty="0">
                          <a:solidFill>
                            <a:schemeClr val="dk1"/>
                          </a:solidFill>
                          <a:latin typeface="Times New Roman" panose="02020603050405020304" pitchFamily="18" charset="0"/>
                          <a:cs typeface="Times New Roman" panose="02020603050405020304" pitchFamily="18" charset="0"/>
                        </a:rPr>
                        <a:t> </a:t>
                      </a:r>
                      <a:r>
                        <a:rPr lang="en-US" sz="1800" kern="1200" dirty="0">
                          <a:solidFill>
                            <a:schemeClr val="dk1"/>
                          </a:solidFill>
                          <a:latin typeface="Times New Roman" panose="02020603050405020304" pitchFamily="18" charset="0"/>
                          <a:cs typeface="Times New Roman" panose="02020603050405020304" pitchFamily="18" charset="0"/>
                        </a:rPr>
                        <a:t>and </a:t>
                      </a:r>
                      <a:r>
                        <a:rPr lang="en-US" sz="1800" b="1" kern="1200" dirty="0">
                          <a:solidFill>
                            <a:schemeClr val="dk1"/>
                          </a:solidFill>
                          <a:latin typeface="Times New Roman" panose="02020603050405020304" pitchFamily="18" charset="0"/>
                          <a:cs typeface="Times New Roman" panose="02020603050405020304" pitchFamily="18" charset="0"/>
                        </a:rPr>
                        <a:t>bulk TCR/BCR sequencing</a:t>
                      </a:r>
                      <a:r>
                        <a:rPr lang="en-US" sz="1800" kern="1200" dirty="0">
                          <a:solidFill>
                            <a:schemeClr val="dk1"/>
                          </a:solidFill>
                          <a:latin typeface="Times New Roman" panose="02020603050405020304" pitchFamily="18" charset="0"/>
                          <a:cs typeface="Times New Roman" panose="02020603050405020304" pitchFamily="18" charset="0"/>
                        </a:rPr>
                        <a:t> collected from COVID-19 patients during hospitalization, from </a:t>
                      </a:r>
                      <a:r>
                        <a:rPr lang="en-US" dirty="0">
                          <a:latin typeface="Times New Roman" panose="02020603050405020304" pitchFamily="18" charset="0"/>
                          <a:cs typeface="Times New Roman" panose="02020603050405020304" pitchFamily="18" charset="0"/>
                        </a:rPr>
                        <a:t>admission to discharge.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altLang="zh-CN"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he Clinical and Omics Data Archive (CODA) for researchers with approved access. (Jo et al., 2022) </a:t>
                      </a:r>
                      <a:endParaRPr lang="en-US"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6947380"/>
                  </a:ext>
                </a:extLst>
              </a:tr>
              <a:tr h="9008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Japan</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T2D</a:t>
                      </a:r>
                      <a:endParaRPr lang="en-KR" dirty="0">
                        <a:latin typeface="Times New Roman" panose="02020603050405020304" pitchFamily="18" charset="0"/>
                        <a:cs typeface="Times New Roman" panose="02020603050405020304" pitchFamily="18" charset="0"/>
                      </a:endParaRPr>
                    </a:p>
                    <a:p>
                      <a:pPr algn="ct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Times New Roman" panose="02020603050405020304" pitchFamily="18" charset="0"/>
                          <a:cs typeface="Times New Roman" panose="02020603050405020304" pitchFamily="18" charset="0"/>
                        </a:rPr>
                        <a:t>Clinical</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metabolic profiles </a:t>
                      </a:r>
                      <a:r>
                        <a:rPr lang="en-US" dirty="0">
                          <a:latin typeface="Times New Roman" panose="02020603050405020304" pitchFamily="18" charset="0"/>
                          <a:cs typeface="Times New Roman" panose="02020603050405020304" pitchFamily="18" charset="0"/>
                        </a:rPr>
                        <a:t>measured longitudinally in T2D patients (0M, 1M, 3M, 12M) </a:t>
                      </a: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err="1">
                          <a:latin typeface="Times New Roman" panose="02020603050405020304" pitchFamily="18" charset="0"/>
                          <a:cs typeface="Times New Roman" panose="02020603050405020304" pitchFamily="18" charset="0"/>
                        </a:rPr>
                        <a:t>Figshare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Sakura et al. and Tomonaga et al.</a:t>
                      </a:r>
                      <a:r>
                        <a:rPr lang="en-US" altLang="zh-CN" dirty="0">
                          <a:latin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6189303"/>
                  </a:ext>
                </a:extLst>
              </a:tr>
              <a:tr h="341189">
                <a:tc>
                  <a:txBody>
                    <a:bodyPr/>
                    <a:lstStyle/>
                    <a:p>
                      <a:pPr algn="ctr"/>
                      <a:r>
                        <a:rPr lang="en-US" altLang="zh-CN" dirty="0">
                          <a:latin typeface="Times New Roman" panose="02020603050405020304" pitchFamily="18" charset="0"/>
                          <a:cs typeface="Times New Roman" panose="02020603050405020304" pitchFamily="18" charset="0"/>
                        </a:rPr>
                        <a:t>KARE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T2D</a:t>
                      </a: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7829326"/>
                  </a:ext>
                </a:extLst>
              </a:tr>
              <a:tr h="3411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KR" dirty="0">
                          <a:latin typeface="Times New Roman" panose="02020603050405020304" pitchFamily="18" charset="0"/>
                          <a:cs typeface="Times New Roman" panose="02020603050405020304" pitchFamily="18" charset="0"/>
                        </a:rPr>
                        <a:t>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KR"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9420707"/>
                  </a:ext>
                </a:extLst>
              </a:tr>
            </a:tbl>
          </a:graphicData>
        </a:graphic>
      </p:graphicFrame>
    </p:spTree>
    <p:extLst>
      <p:ext uri="{BB962C8B-B14F-4D97-AF65-F5344CB8AC3E}">
        <p14:creationId xmlns:p14="http://schemas.microsoft.com/office/powerpoint/2010/main" val="182232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D191B-FA79-BDBA-EA8B-8A1D4136BFC2}"/>
              </a:ext>
            </a:extLst>
          </p:cNvPr>
          <p:cNvSpPr>
            <a:spLocks noGrp="1"/>
          </p:cNvSpPr>
          <p:nvPr>
            <p:ph type="title"/>
          </p:nvPr>
        </p:nvSpPr>
        <p:spPr>
          <a:xfrm>
            <a:off x="838199" y="365125"/>
            <a:ext cx="10989039" cy="1325563"/>
          </a:xfrm>
        </p:spPr>
        <p:txBody>
          <a:bodyPr>
            <a:normAutofit/>
          </a:bodyPr>
          <a:lstStyle/>
          <a:p>
            <a:r>
              <a:rPr lang="en-US" sz="3600" dirty="0">
                <a:latin typeface="Times New Roman" panose="02020603050405020304" pitchFamily="18" charset="0"/>
                <a:cs typeface="Times New Roman" panose="02020603050405020304" pitchFamily="18" charset="0"/>
              </a:rPr>
              <a:t>EDA</a:t>
            </a:r>
            <a:r>
              <a:rPr lang="en-US" altLang="zh-CN" sz="3600" dirty="0">
                <a:latin typeface="Times New Roman" panose="02020603050405020304" pitchFamily="18" charset="0"/>
                <a:cs typeface="Times New Roman" panose="02020603050405020304" pitchFamily="18" charset="0"/>
              </a:rPr>
              <a:t>-Trajectories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and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Frequency</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Distribution</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(COVID-19)</a:t>
            </a:r>
            <a:endParaRPr lang="en-KR" sz="3600" dirty="0"/>
          </a:p>
        </p:txBody>
      </p:sp>
      <p:pic>
        <p:nvPicPr>
          <p:cNvPr id="4" name="Picture 3" descr="A group of graphs with different colored lines&#10;&#10;AI-generated content may be incorrect.">
            <a:extLst>
              <a:ext uri="{FF2B5EF4-FFF2-40B4-BE49-F238E27FC236}">
                <a16:creationId xmlns:a16="http://schemas.microsoft.com/office/drawing/2014/main" id="{88C17BC8-6314-2E7F-A4E5-FB2FB46494DC}"/>
              </a:ext>
            </a:extLst>
          </p:cNvPr>
          <p:cNvPicPr>
            <a:picLocks noChangeAspect="1"/>
          </p:cNvPicPr>
          <p:nvPr/>
        </p:nvPicPr>
        <p:blipFill>
          <a:blip r:embed="rId3"/>
          <a:stretch>
            <a:fillRect/>
          </a:stretch>
        </p:blipFill>
        <p:spPr>
          <a:xfrm>
            <a:off x="699456" y="1644045"/>
            <a:ext cx="4755992" cy="3955919"/>
          </a:xfrm>
          <a:prstGeom prst="rect">
            <a:avLst/>
          </a:prstGeom>
        </p:spPr>
      </p:pic>
      <p:graphicFrame>
        <p:nvGraphicFramePr>
          <p:cNvPr id="6" name="Table 5">
            <a:extLst>
              <a:ext uri="{FF2B5EF4-FFF2-40B4-BE49-F238E27FC236}">
                <a16:creationId xmlns:a16="http://schemas.microsoft.com/office/drawing/2014/main" id="{EEF9B2C7-2FB5-9409-641D-261A554453CD}"/>
              </a:ext>
            </a:extLst>
          </p:cNvPr>
          <p:cNvGraphicFramePr>
            <a:graphicFrameLocks noGrp="1"/>
          </p:cNvGraphicFramePr>
          <p:nvPr>
            <p:extLst>
              <p:ext uri="{D42A27DB-BD31-4B8C-83A1-F6EECF244321}">
                <p14:modId xmlns:p14="http://schemas.microsoft.com/office/powerpoint/2010/main" val="2269783169"/>
              </p:ext>
            </p:extLst>
          </p:nvPr>
        </p:nvGraphicFramePr>
        <p:xfrm>
          <a:off x="7102460" y="2321969"/>
          <a:ext cx="3793140" cy="2286000"/>
        </p:xfrm>
        <a:graphic>
          <a:graphicData uri="http://schemas.openxmlformats.org/drawingml/2006/table">
            <a:tbl>
              <a:tblPr firstRow="1" bandRow="1">
                <a:tableStyleId>{5C22544A-7EE6-4342-B048-85BDC9FD1C3A}</a:tableStyleId>
              </a:tblPr>
              <a:tblGrid>
                <a:gridCol w="1837007">
                  <a:extLst>
                    <a:ext uri="{9D8B030D-6E8A-4147-A177-3AD203B41FA5}">
                      <a16:colId xmlns:a16="http://schemas.microsoft.com/office/drawing/2014/main" val="4044658265"/>
                    </a:ext>
                  </a:extLst>
                </a:gridCol>
                <a:gridCol w="1956133">
                  <a:extLst>
                    <a:ext uri="{9D8B030D-6E8A-4147-A177-3AD203B41FA5}">
                      <a16:colId xmlns:a16="http://schemas.microsoft.com/office/drawing/2014/main" val="3409588964"/>
                    </a:ext>
                  </a:extLst>
                </a:gridCol>
              </a:tblGrid>
              <a:tr h="631245">
                <a:tc>
                  <a:txBody>
                    <a:bodyPr/>
                    <a:lstStyle/>
                    <a:p>
                      <a:pPr algn="ct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measures</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per</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sample</a:t>
                      </a:r>
                      <a:endParaRPr lang="en-KR"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sample</a:t>
                      </a:r>
                      <a:endParaRPr lang="en-KR"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35921658"/>
                  </a:ext>
                </a:extLst>
              </a:tr>
              <a:tr h="360712">
                <a:tc>
                  <a:txBody>
                    <a:bodyPr/>
                    <a:lstStyle/>
                    <a:p>
                      <a:pPr algn="ctr"/>
                      <a:r>
                        <a:rPr lang="en-US" altLang="zh-CN" sz="2000" dirty="0">
                          <a:latin typeface="Times New Roman" panose="02020603050405020304" pitchFamily="18" charset="0"/>
                          <a:cs typeface="Times New Roman" panose="02020603050405020304" pitchFamily="18" charset="0"/>
                        </a:rPr>
                        <a:t>1</a:t>
                      </a:r>
                      <a:endParaRPr lang="en-KR"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latin typeface="Times New Roman" panose="02020603050405020304" pitchFamily="18" charset="0"/>
                          <a:cs typeface="Times New Roman" panose="02020603050405020304" pitchFamily="18" charset="0"/>
                        </a:rPr>
                        <a:t>83</a:t>
                      </a:r>
                      <a:endParaRPr lang="en-KR"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1230494"/>
                  </a:ext>
                </a:extLst>
              </a:tr>
              <a:tr h="360712">
                <a:tc>
                  <a:txBody>
                    <a:bodyPr/>
                    <a:lstStyle/>
                    <a:p>
                      <a:pPr algn="ctr"/>
                      <a:r>
                        <a:rPr lang="en-US" altLang="zh-CN" sz="2000" dirty="0">
                          <a:latin typeface="Times New Roman" panose="02020603050405020304" pitchFamily="18" charset="0"/>
                          <a:cs typeface="Times New Roman" panose="02020603050405020304" pitchFamily="18" charset="0"/>
                        </a:rPr>
                        <a:t>2</a:t>
                      </a:r>
                      <a:endParaRPr lang="en-KR"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latin typeface="Times New Roman" panose="02020603050405020304" pitchFamily="18" charset="0"/>
                          <a:cs typeface="Times New Roman" panose="02020603050405020304" pitchFamily="18" charset="0"/>
                        </a:rPr>
                        <a:t>152</a:t>
                      </a:r>
                      <a:endParaRPr lang="en-KR"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73992077"/>
                  </a:ext>
                </a:extLst>
              </a:tr>
              <a:tr h="360712">
                <a:tc>
                  <a:txBody>
                    <a:bodyPr/>
                    <a:lstStyle/>
                    <a:p>
                      <a:pPr algn="ctr"/>
                      <a:r>
                        <a:rPr lang="en-US" altLang="zh-CN" sz="2000" dirty="0">
                          <a:latin typeface="Times New Roman" panose="02020603050405020304" pitchFamily="18" charset="0"/>
                          <a:cs typeface="Times New Roman" panose="02020603050405020304" pitchFamily="18" charset="0"/>
                        </a:rPr>
                        <a:t>3</a:t>
                      </a:r>
                      <a:endParaRPr lang="en-KR"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en-KR"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88294575"/>
                  </a:ext>
                </a:extLst>
              </a:tr>
              <a:tr h="360712">
                <a:tc>
                  <a:txBody>
                    <a:bodyPr/>
                    <a:lstStyle/>
                    <a:p>
                      <a:pPr algn="ctr"/>
                      <a:r>
                        <a:rPr lang="en-US" altLang="zh-CN" sz="2000" dirty="0">
                          <a:latin typeface="Times New Roman" panose="02020603050405020304" pitchFamily="18" charset="0"/>
                          <a:cs typeface="Times New Roman" panose="02020603050405020304" pitchFamily="18" charset="0"/>
                        </a:rPr>
                        <a:t>4</a:t>
                      </a:r>
                      <a:endParaRPr lang="en-KR"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latin typeface="Times New Roman" panose="02020603050405020304" pitchFamily="18" charset="0"/>
                          <a:cs typeface="Times New Roman" panose="02020603050405020304" pitchFamily="18" charset="0"/>
                        </a:rPr>
                        <a:t>12</a:t>
                      </a:r>
                      <a:endParaRPr lang="en-KR"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11337922"/>
                  </a:ext>
                </a:extLst>
              </a:tr>
            </a:tbl>
          </a:graphicData>
        </a:graphic>
      </p:graphicFrame>
      <p:sp>
        <p:nvSpPr>
          <p:cNvPr id="7" name="TextBox 6">
            <a:extLst>
              <a:ext uri="{FF2B5EF4-FFF2-40B4-BE49-F238E27FC236}">
                <a16:creationId xmlns:a16="http://schemas.microsoft.com/office/drawing/2014/main" id="{B8A8DFE4-9926-C104-7E28-94F2B69CE215}"/>
              </a:ext>
            </a:extLst>
          </p:cNvPr>
          <p:cNvSpPr txBox="1"/>
          <p:nvPr/>
        </p:nvSpPr>
        <p:spPr>
          <a:xfrm>
            <a:off x="5811707" y="4728002"/>
            <a:ext cx="617844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able</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Distribution of Measurement Frequency Across Samples</a:t>
            </a:r>
          </a:p>
        </p:txBody>
      </p:sp>
      <p:sp>
        <p:nvSpPr>
          <p:cNvPr id="8" name="TextBox 7">
            <a:extLst>
              <a:ext uri="{FF2B5EF4-FFF2-40B4-BE49-F238E27FC236}">
                <a16:creationId xmlns:a16="http://schemas.microsoft.com/office/drawing/2014/main" id="{07C4478F-2CCA-9C97-EDBF-14FC216A93D0}"/>
              </a:ext>
            </a:extLst>
          </p:cNvPr>
          <p:cNvSpPr txBox="1"/>
          <p:nvPr/>
        </p:nvSpPr>
        <p:spPr>
          <a:xfrm>
            <a:off x="222303" y="5613728"/>
            <a:ext cx="10466291" cy="1446550"/>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Figure 1 Trajectories of </a:t>
            </a:r>
            <a:r>
              <a:rPr lang="en-US" altLang="zh-CN" sz="1800" b="1" dirty="0">
                <a:latin typeface="Times New Roman" panose="02020603050405020304" pitchFamily="18" charset="0"/>
                <a:cs typeface="Times New Roman" panose="02020603050405020304" pitchFamily="18" charset="0"/>
              </a:rPr>
              <a:t>clonal</a:t>
            </a:r>
            <a:r>
              <a:rPr lang="en-US" sz="1800" b="1" dirty="0">
                <a:latin typeface="Times New Roman" panose="02020603050405020304" pitchFamily="18" charset="0"/>
                <a:cs typeface="Times New Roman" panose="02020603050405020304" pitchFamily="18" charset="0"/>
              </a:rPr>
              <a:t> diversity for Individuals </a:t>
            </a:r>
          </a:p>
          <a:p>
            <a:r>
              <a:rPr lang="en-US" altLang="zh-CN" sz="1800"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he red dots indicate samples with only a single observation. The colored lines represent the trajectories of clonal diversity for each subject across BCR-IGG, BCR-IGM, TCR-alpha, and TCR-beta. The blue line denotes the overall mean trajectory, and the shaded area represents the 95% confidence interval.</a:t>
            </a:r>
            <a:endParaRPr lang="en-KR" sz="1800" dirty="0">
              <a:latin typeface="Times New Roman" panose="02020603050405020304" pitchFamily="18" charset="0"/>
              <a:cs typeface="Times New Roman" panose="02020603050405020304" pitchFamily="18" charset="0"/>
            </a:endParaRPr>
          </a:p>
          <a:p>
            <a:pPr>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6631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D1DD4-29FC-D8F1-72A6-41E8EBD82F35}"/>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EDA-Description</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of</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COVID-19</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Dataset</a:t>
            </a:r>
            <a:endParaRPr lang="en-KR"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00EF77D6-508A-BE9A-73D6-9EDA7E579F38}"/>
              </a:ext>
            </a:extLst>
          </p:cNvPr>
          <p:cNvGraphicFramePr>
            <a:graphicFrameLocks noGrp="1"/>
          </p:cNvGraphicFramePr>
          <p:nvPr>
            <p:ph idx="1"/>
            <p:extLst>
              <p:ext uri="{D42A27DB-BD31-4B8C-83A1-F6EECF244321}">
                <p14:modId xmlns:p14="http://schemas.microsoft.com/office/powerpoint/2010/main" val="1621772409"/>
              </p:ext>
            </p:extLst>
          </p:nvPr>
        </p:nvGraphicFramePr>
        <p:xfrm>
          <a:off x="1070219" y="1951685"/>
          <a:ext cx="9875293" cy="3633862"/>
        </p:xfrm>
        <a:graphic>
          <a:graphicData uri="http://schemas.openxmlformats.org/drawingml/2006/table">
            <a:tbl>
              <a:tblPr firstRow="1" bandRow="1">
                <a:tableStyleId>{B301B821-A1FF-4177-AEE7-76D212191A09}</a:tableStyleId>
              </a:tblPr>
              <a:tblGrid>
                <a:gridCol w="3441040">
                  <a:extLst>
                    <a:ext uri="{9D8B030D-6E8A-4147-A177-3AD203B41FA5}">
                      <a16:colId xmlns:a16="http://schemas.microsoft.com/office/drawing/2014/main" val="2162075162"/>
                    </a:ext>
                  </a:extLst>
                </a:gridCol>
                <a:gridCol w="6434253">
                  <a:extLst>
                    <a:ext uri="{9D8B030D-6E8A-4147-A177-3AD203B41FA5}">
                      <a16:colId xmlns:a16="http://schemas.microsoft.com/office/drawing/2014/main" val="2383401162"/>
                    </a:ext>
                  </a:extLst>
                </a:gridCol>
              </a:tblGrid>
              <a:tr h="212498">
                <a:tc>
                  <a:txBody>
                    <a:bodyPr/>
                    <a:lstStyle/>
                    <a:p>
                      <a:pPr>
                        <a:buNone/>
                      </a:pPr>
                      <a:r>
                        <a:rPr lang="en-US" sz="1400" b="1" dirty="0"/>
                        <a:t>Category</a:t>
                      </a:r>
                      <a:endParaRPr lang="en-US" sz="14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dirty="0"/>
                        <a:t>Description</a:t>
                      </a:r>
                      <a:endParaRPr lang="en-US" sz="14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2363808"/>
                  </a:ext>
                </a:extLst>
              </a:tr>
              <a:tr h="379085">
                <a:tc>
                  <a:txBody>
                    <a:bodyPr/>
                    <a:lstStyle/>
                    <a:p>
                      <a:pPr>
                        <a:buNone/>
                      </a:pPr>
                      <a:r>
                        <a:rPr lang="en-US" sz="1400" dirty="0"/>
                        <a:t>Cytokines / Inflammatory factors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IL-6, TNF-alpha, IL-1 beta, IFN-gamma; involved in inflammation and immune response.</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5290027"/>
                  </a:ext>
                </a:extLst>
              </a:tr>
              <a:tr h="212498">
                <a:tc>
                  <a:txBody>
                    <a:bodyPr/>
                    <a:lstStyle/>
                    <a:p>
                      <a:pPr>
                        <a:buNone/>
                      </a:pPr>
                      <a:r>
                        <a:rPr lang="en-US" sz="1400"/>
                        <a:t>Chemokines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CCL2, CXCL10, CCL5; regulate leukocyte migration.</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1551166"/>
                  </a:ext>
                </a:extLst>
              </a:tr>
              <a:tr h="379085">
                <a:tc>
                  <a:txBody>
                    <a:bodyPr/>
                    <a:lstStyle/>
                    <a:p>
                      <a:pPr>
                        <a:buNone/>
                      </a:pPr>
                      <a:r>
                        <a:rPr lang="en-US" sz="1400" dirty="0"/>
                        <a:t>Growth factors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VEGF, EGF, FGF2; involved in angiogenesis, tissue repair, and cell proliferation.</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672523"/>
                  </a:ext>
                </a:extLst>
              </a:tr>
              <a:tr h="212498">
                <a:tc>
                  <a:txBody>
                    <a:bodyPr/>
                    <a:lstStyle/>
                    <a:p>
                      <a:pPr>
                        <a:buNone/>
                      </a:pPr>
                      <a:r>
                        <a:rPr lang="en-US" sz="1400"/>
                        <a:t>Proteases / Inhibitors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MMP-2, MMP-9, TIMP-1; regulate matrix degradation.</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1842380"/>
                  </a:ext>
                </a:extLst>
              </a:tr>
              <a:tr h="212498">
                <a:tc>
                  <a:txBody>
                    <a:bodyPr/>
                    <a:lstStyle/>
                    <a:p>
                      <a:pPr>
                        <a:buNone/>
                      </a:pPr>
                      <a:r>
                        <a:rPr lang="en-US" sz="1400"/>
                        <a:t>Acute phase proteins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CRP, SAA, LBP; reflect systemic inflammatory state.</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6747653"/>
                  </a:ext>
                </a:extLst>
              </a:tr>
              <a:tr h="212498">
                <a:tc>
                  <a:txBody>
                    <a:bodyPr/>
                    <a:lstStyle/>
                    <a:p>
                      <a:pPr>
                        <a:buNone/>
                      </a:pPr>
                      <a:r>
                        <a:rPr lang="en-US" sz="1400"/>
                        <a:t>Immune regulatory factors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CD14, CD23, BCMA; involved in immune recognition and response regulation.</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7734110"/>
                  </a:ext>
                </a:extLst>
              </a:tr>
              <a:tr h="212498">
                <a:tc>
                  <a:txBody>
                    <a:bodyPr/>
                    <a:lstStyle/>
                    <a:p>
                      <a:pPr>
                        <a:buNone/>
                      </a:pPr>
                      <a:r>
                        <a:rPr lang="en-US" sz="1400"/>
                        <a:t>Complement system-related proteins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C1q, C2, C5a, Properdin; involved in innate immunity.</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0561190"/>
                  </a:ext>
                </a:extLst>
              </a:tr>
              <a:tr h="212498">
                <a:tc>
                  <a:txBody>
                    <a:bodyPr/>
                    <a:lstStyle/>
                    <a:p>
                      <a:pPr>
                        <a:buNone/>
                      </a:pPr>
                      <a:r>
                        <a:rPr lang="en-US" sz="1400"/>
                        <a:t>Metabolic and endocrine markers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Leptin, </a:t>
                      </a:r>
                      <a:r>
                        <a:rPr lang="en-US" sz="1400" dirty="0" err="1"/>
                        <a:t>Adipsin</a:t>
                      </a:r>
                      <a:r>
                        <a:rPr lang="en-US" sz="1400" dirty="0"/>
                        <a:t>, Insulin, GH; reflect metabolic state.</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96347"/>
                  </a:ext>
                </a:extLst>
              </a:tr>
              <a:tr h="212498">
                <a:tc>
                  <a:txBody>
                    <a:bodyPr/>
                    <a:lstStyle/>
                    <a:p>
                      <a:pPr>
                        <a:buNone/>
                      </a:pPr>
                      <a:r>
                        <a:rPr lang="en-US" sz="1400"/>
                        <a:t>Coagulation and vascular function proteins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Protein C, Thrombomodulin, </a:t>
                      </a:r>
                      <a:r>
                        <a:rPr lang="en-US" sz="1400" dirty="0" err="1"/>
                        <a:t>vWF</a:t>
                      </a:r>
                      <a:r>
                        <a:rPr lang="en-US" sz="1400" dirty="0"/>
                        <a:t>; reflect coagulation and vascular function.</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7363025"/>
                  </a:ext>
                </a:extLst>
              </a:tr>
              <a:tr h="379085">
                <a:tc>
                  <a:txBody>
                    <a:bodyPr/>
                    <a:lstStyle/>
                    <a:p>
                      <a:pPr>
                        <a:buNone/>
                      </a:pPr>
                      <a:r>
                        <a:rPr lang="en-US" sz="1400"/>
                        <a:t>Tissue remodeling and structural proteins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e.g., Collagen I, </a:t>
                      </a:r>
                      <a:r>
                        <a:rPr lang="en-US" sz="1400" dirty="0" err="1"/>
                        <a:t>Lumican</a:t>
                      </a:r>
                      <a:r>
                        <a:rPr lang="en-US" sz="1400" dirty="0"/>
                        <a:t>, Galectin-3; involved in structural maintenance and fibrosis.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9443268"/>
                  </a:ext>
                </a:extLst>
              </a:tr>
            </a:tbl>
          </a:graphicData>
        </a:graphic>
      </p:graphicFrame>
      <p:sp>
        <p:nvSpPr>
          <p:cNvPr id="3" name="TextBox 2">
            <a:extLst>
              <a:ext uri="{FF2B5EF4-FFF2-40B4-BE49-F238E27FC236}">
                <a16:creationId xmlns:a16="http://schemas.microsoft.com/office/drawing/2014/main" id="{E91316CF-A842-7227-B0B8-24DBCB7F1DFD}"/>
              </a:ext>
            </a:extLst>
          </p:cNvPr>
          <p:cNvSpPr txBox="1"/>
          <p:nvPr/>
        </p:nvSpPr>
        <p:spPr>
          <a:xfrm>
            <a:off x="628820" y="5954879"/>
            <a:ext cx="11259238" cy="646331"/>
          </a:xfrm>
          <a:prstGeom prst="rect">
            <a:avLst/>
          </a:prstGeom>
          <a:noFill/>
        </p:spPr>
        <p:txBody>
          <a:bodyPr wrap="square" rtlCol="0">
            <a:spAutoFit/>
          </a:bodyPr>
          <a:lstStyle/>
          <a:p>
            <a:r>
              <a:rPr lang="en-US" dirty="0"/>
              <a:t>This dataset comprises a diverse panel of protein biomarkers, including cytokines, growth factors, and metabolic indicators, that collectively characterize the inflammatory and immune response in COVID-19 patients .</a:t>
            </a:r>
          </a:p>
        </p:txBody>
      </p:sp>
      <p:sp>
        <p:nvSpPr>
          <p:cNvPr id="5" name="TextBox 4">
            <a:extLst>
              <a:ext uri="{FF2B5EF4-FFF2-40B4-BE49-F238E27FC236}">
                <a16:creationId xmlns:a16="http://schemas.microsoft.com/office/drawing/2014/main" id="{023EBDDC-71A0-486D-D2AD-ECC1A8106F05}"/>
              </a:ext>
            </a:extLst>
          </p:cNvPr>
          <p:cNvSpPr txBox="1"/>
          <p:nvPr/>
        </p:nvSpPr>
        <p:spPr>
          <a:xfrm>
            <a:off x="939114" y="5585547"/>
            <a:ext cx="8867171" cy="369332"/>
          </a:xfrm>
          <a:prstGeom prst="rect">
            <a:avLst/>
          </a:prstGeom>
          <a:noFill/>
        </p:spPr>
        <p:txBody>
          <a:bodyPr wrap="none" rtlCol="0">
            <a:spAutoFit/>
          </a:bodyPr>
          <a:lstStyle/>
          <a:p>
            <a:r>
              <a:rPr lang="en-KR" b="1" dirty="0">
                <a:latin typeface="Times New Roman" panose="02020603050405020304" pitchFamily="18" charset="0"/>
                <a:cs typeface="Times New Roman" panose="02020603050405020304" pitchFamily="18" charset="0"/>
              </a:rPr>
              <a:t>Supplementary </a:t>
            </a:r>
            <a:r>
              <a:rPr lang="en-US" b="1" dirty="0">
                <a:latin typeface="Times New Roman" panose="02020603050405020304" pitchFamily="18" charset="0"/>
                <a:cs typeface="Times New Roman" panose="02020603050405020304" pitchFamily="18" charset="0"/>
              </a:rPr>
              <a:t>Table 1 Protein Categories Represented in the Korea COVID-19 Dataset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1683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93A13-86D9-1DCC-0D78-33944A118AA2}"/>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EDA-Description</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of</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JP</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Diabetes</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Dataset</a:t>
            </a:r>
            <a:endParaRPr lang="en-KR"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CF7088BD-77CC-868B-2A6A-E5E1F61C241E}"/>
              </a:ext>
            </a:extLst>
          </p:cNvPr>
          <p:cNvGraphicFramePr>
            <a:graphicFrameLocks noGrp="1"/>
          </p:cNvGraphicFramePr>
          <p:nvPr>
            <p:extLst>
              <p:ext uri="{D42A27DB-BD31-4B8C-83A1-F6EECF244321}">
                <p14:modId xmlns:p14="http://schemas.microsoft.com/office/powerpoint/2010/main" val="866188694"/>
              </p:ext>
            </p:extLst>
          </p:nvPr>
        </p:nvGraphicFramePr>
        <p:xfrm>
          <a:off x="838200" y="2043113"/>
          <a:ext cx="10091102" cy="3430260"/>
        </p:xfrm>
        <a:graphic>
          <a:graphicData uri="http://schemas.openxmlformats.org/drawingml/2006/table">
            <a:tbl>
              <a:tblPr firstRow="1" bandRow="1">
                <a:tableStyleId>{B301B821-A1FF-4177-AEE7-76D212191A09}</a:tableStyleId>
              </a:tblPr>
              <a:tblGrid>
                <a:gridCol w="2847109">
                  <a:extLst>
                    <a:ext uri="{9D8B030D-6E8A-4147-A177-3AD203B41FA5}">
                      <a16:colId xmlns:a16="http://schemas.microsoft.com/office/drawing/2014/main" val="3910000962"/>
                    </a:ext>
                  </a:extLst>
                </a:gridCol>
                <a:gridCol w="7243993">
                  <a:extLst>
                    <a:ext uri="{9D8B030D-6E8A-4147-A177-3AD203B41FA5}">
                      <a16:colId xmlns:a16="http://schemas.microsoft.com/office/drawing/2014/main" val="72842656"/>
                    </a:ext>
                  </a:extLst>
                </a:gridCol>
              </a:tblGrid>
              <a:tr h="214341">
                <a:tc>
                  <a:txBody>
                    <a:bodyPr/>
                    <a:lstStyle/>
                    <a:p>
                      <a:pPr>
                        <a:buNone/>
                      </a:pPr>
                      <a:r>
                        <a:rPr lang="en-US" sz="1500" b="1" dirty="0"/>
                        <a:t>Category</a:t>
                      </a:r>
                      <a:endParaRPr lang="en-US" sz="1500" dirty="0"/>
                    </a:p>
                  </a:txBody>
                  <a:tcPr marL="76339" marR="76339" marT="38170" marB="38170" anchor="ctr"/>
                </a:tc>
                <a:tc>
                  <a:txBody>
                    <a:bodyPr/>
                    <a:lstStyle/>
                    <a:p>
                      <a:pPr>
                        <a:buNone/>
                      </a:pPr>
                      <a:r>
                        <a:rPr lang="en-US" sz="1500" b="1" dirty="0"/>
                        <a:t>Variable Name</a:t>
                      </a:r>
                      <a:endParaRPr lang="en-US" sz="1500" dirty="0"/>
                    </a:p>
                  </a:txBody>
                  <a:tcPr marL="76339" marR="76339" marT="38170" marB="38170" anchor="ctr"/>
                </a:tc>
                <a:extLst>
                  <a:ext uri="{0D108BD9-81ED-4DB2-BD59-A6C34878D82A}">
                    <a16:rowId xmlns:a16="http://schemas.microsoft.com/office/drawing/2014/main" val="2405412990"/>
                  </a:ext>
                </a:extLst>
              </a:tr>
              <a:tr h="214341">
                <a:tc>
                  <a:txBody>
                    <a:bodyPr/>
                    <a:lstStyle/>
                    <a:p>
                      <a:pPr>
                        <a:buNone/>
                      </a:pPr>
                      <a:r>
                        <a:rPr lang="en-US" sz="1500" b="1" dirty="0"/>
                        <a:t>Basic Information</a:t>
                      </a:r>
                      <a:endParaRPr lang="en-US" sz="1500" dirty="0"/>
                    </a:p>
                  </a:txBody>
                  <a:tcPr marL="76339" marR="76339" marT="38170" marB="38170" anchor="ctr"/>
                </a:tc>
                <a:tc>
                  <a:txBody>
                    <a:bodyPr/>
                    <a:lstStyle/>
                    <a:p>
                      <a:pPr>
                        <a:buNone/>
                      </a:pPr>
                      <a:r>
                        <a:rPr lang="en-US" sz="1500" dirty="0"/>
                        <a:t>Sex, age</a:t>
                      </a:r>
                    </a:p>
                  </a:txBody>
                  <a:tcPr marL="76339" marR="76339" marT="38170" marB="38170" anchor="ctr"/>
                </a:tc>
                <a:extLst>
                  <a:ext uri="{0D108BD9-81ED-4DB2-BD59-A6C34878D82A}">
                    <a16:rowId xmlns:a16="http://schemas.microsoft.com/office/drawing/2014/main" val="1636822564"/>
                  </a:ext>
                </a:extLst>
              </a:tr>
              <a:tr h="214341">
                <a:tc>
                  <a:txBody>
                    <a:bodyPr/>
                    <a:lstStyle/>
                    <a:p>
                      <a:pPr>
                        <a:buNone/>
                      </a:pPr>
                      <a:r>
                        <a:rPr lang="en-US" sz="1500" b="1"/>
                        <a:t>Lifestyle Habits</a:t>
                      </a:r>
                      <a:endParaRPr lang="en-US" sz="1500"/>
                    </a:p>
                  </a:txBody>
                  <a:tcPr marL="76339" marR="76339" marT="38170" marB="38170" anchor="ctr"/>
                </a:tc>
                <a:tc>
                  <a:txBody>
                    <a:bodyPr/>
                    <a:lstStyle/>
                    <a:p>
                      <a:pPr>
                        <a:buNone/>
                      </a:pPr>
                      <a:r>
                        <a:rPr lang="en-US" sz="1500" dirty="0"/>
                        <a:t>Drinking habit, Smoking habit</a:t>
                      </a:r>
                    </a:p>
                  </a:txBody>
                  <a:tcPr marL="76339" marR="76339" marT="38170" marB="38170" anchor="ctr"/>
                </a:tc>
                <a:extLst>
                  <a:ext uri="{0D108BD9-81ED-4DB2-BD59-A6C34878D82A}">
                    <a16:rowId xmlns:a16="http://schemas.microsoft.com/office/drawing/2014/main" val="1780145558"/>
                  </a:ext>
                </a:extLst>
              </a:tr>
              <a:tr h="222561">
                <a:tc>
                  <a:txBody>
                    <a:bodyPr/>
                    <a:lstStyle/>
                    <a:p>
                      <a:pPr>
                        <a:buNone/>
                      </a:pPr>
                      <a:r>
                        <a:rPr lang="en-US" sz="1500" b="1" dirty="0"/>
                        <a:t>Metabolic Indicators</a:t>
                      </a:r>
                      <a:endParaRPr lang="en-US" sz="1500" dirty="0"/>
                    </a:p>
                  </a:txBody>
                  <a:tcPr marL="76339" marR="76339" marT="38170" marB="38170" anchor="ctr"/>
                </a:tc>
                <a:tc>
                  <a:txBody>
                    <a:bodyPr/>
                    <a:lstStyle/>
                    <a:p>
                      <a:pPr>
                        <a:buNone/>
                      </a:pPr>
                      <a:r>
                        <a:rPr lang="en-US" sz="1500" dirty="0"/>
                        <a:t>BMI, HbA1c (NGSP*), HDL-C, LDL-C, Triglyceride, Uric acid, Creatinine, eGFR</a:t>
                      </a:r>
                    </a:p>
                  </a:txBody>
                  <a:tcPr marL="76339" marR="76339" marT="38170" marB="38170" anchor="ctr"/>
                </a:tc>
                <a:extLst>
                  <a:ext uri="{0D108BD9-81ED-4DB2-BD59-A6C34878D82A}">
                    <a16:rowId xmlns:a16="http://schemas.microsoft.com/office/drawing/2014/main" val="3347009741"/>
                  </a:ext>
                </a:extLst>
              </a:tr>
              <a:tr h="233468">
                <a:tc>
                  <a:txBody>
                    <a:bodyPr/>
                    <a:lstStyle/>
                    <a:p>
                      <a:pPr>
                        <a:buNone/>
                      </a:pPr>
                      <a:r>
                        <a:rPr lang="en-US" sz="1500" b="1"/>
                        <a:t>Blood &amp; Biochemical Markers</a:t>
                      </a:r>
                      <a:endParaRPr lang="en-US" sz="1500"/>
                    </a:p>
                  </a:txBody>
                  <a:tcPr marL="76339" marR="76339" marT="38170" marB="38170" anchor="ctr"/>
                </a:tc>
                <a:tc>
                  <a:txBody>
                    <a:bodyPr/>
                    <a:lstStyle/>
                    <a:p>
                      <a:pPr>
                        <a:buNone/>
                      </a:pPr>
                      <a:r>
                        <a:rPr lang="en-US" sz="1500" dirty="0"/>
                        <a:t>ALT, AST, Cl, Na, K, Hematocrit, Hemoglobin, White blood cell, Platelet, Red blood cell</a:t>
                      </a:r>
                    </a:p>
                  </a:txBody>
                  <a:tcPr marL="76339" marR="76339" marT="38170" marB="38170" anchor="ctr"/>
                </a:tc>
                <a:extLst>
                  <a:ext uri="{0D108BD9-81ED-4DB2-BD59-A6C34878D82A}">
                    <a16:rowId xmlns:a16="http://schemas.microsoft.com/office/drawing/2014/main" val="786262620"/>
                  </a:ext>
                </a:extLst>
              </a:tr>
              <a:tr h="214341">
                <a:tc>
                  <a:txBody>
                    <a:bodyPr/>
                    <a:lstStyle/>
                    <a:p>
                      <a:pPr>
                        <a:buNone/>
                      </a:pPr>
                      <a:r>
                        <a:rPr lang="en-US" sz="1500" b="1"/>
                        <a:t>Blood Pressure</a:t>
                      </a:r>
                      <a:endParaRPr lang="en-US" sz="1500"/>
                    </a:p>
                  </a:txBody>
                  <a:tcPr marL="76339" marR="76339" marT="38170" marB="38170" anchor="ctr"/>
                </a:tc>
                <a:tc>
                  <a:txBody>
                    <a:bodyPr/>
                    <a:lstStyle/>
                    <a:p>
                      <a:pPr>
                        <a:buNone/>
                      </a:pPr>
                      <a:r>
                        <a:rPr lang="en-US" sz="1500" dirty="0"/>
                        <a:t>Diastolic blood pressure, Systolic blood pressure</a:t>
                      </a:r>
                    </a:p>
                  </a:txBody>
                  <a:tcPr marL="76339" marR="76339" marT="38170" marB="38170" anchor="ctr"/>
                </a:tc>
                <a:extLst>
                  <a:ext uri="{0D108BD9-81ED-4DB2-BD59-A6C34878D82A}">
                    <a16:rowId xmlns:a16="http://schemas.microsoft.com/office/drawing/2014/main" val="185210446"/>
                  </a:ext>
                </a:extLst>
              </a:tr>
              <a:tr h="375023">
                <a:tc>
                  <a:txBody>
                    <a:bodyPr/>
                    <a:lstStyle/>
                    <a:p>
                      <a:pPr>
                        <a:buNone/>
                      </a:pPr>
                      <a:r>
                        <a:rPr lang="en-US" sz="1500" b="1"/>
                        <a:t>Kidney Function &amp; Urinary Tests</a:t>
                      </a:r>
                      <a:endParaRPr lang="en-US" sz="1500"/>
                    </a:p>
                  </a:txBody>
                  <a:tcPr marL="76339" marR="76339" marT="38170" marB="38170" anchor="ctr"/>
                </a:tc>
                <a:tc>
                  <a:txBody>
                    <a:bodyPr/>
                    <a:lstStyle/>
                    <a:p>
                      <a:pPr>
                        <a:buNone/>
                      </a:pPr>
                      <a:r>
                        <a:rPr lang="en-US" sz="1500" dirty="0"/>
                        <a:t>BUN, Urinary protein, Urinary sugar</a:t>
                      </a:r>
                    </a:p>
                  </a:txBody>
                  <a:tcPr marL="76339" marR="76339" marT="38170" marB="38170" anchor="ctr"/>
                </a:tc>
                <a:extLst>
                  <a:ext uri="{0D108BD9-81ED-4DB2-BD59-A6C34878D82A}">
                    <a16:rowId xmlns:a16="http://schemas.microsoft.com/office/drawing/2014/main" val="2897113863"/>
                  </a:ext>
                </a:extLst>
              </a:tr>
              <a:tr h="604094">
                <a:tc>
                  <a:txBody>
                    <a:bodyPr/>
                    <a:lstStyle/>
                    <a:p>
                      <a:pPr>
                        <a:buNone/>
                      </a:pPr>
                      <a:r>
                        <a:rPr lang="en-US" sz="1500" b="1" dirty="0"/>
                        <a:t>Health History</a:t>
                      </a:r>
                      <a:endParaRPr lang="en-US" sz="1500" dirty="0"/>
                    </a:p>
                  </a:txBody>
                  <a:tcPr marL="76339" marR="76339" marT="38170" marB="38170" anchor="ctr"/>
                </a:tc>
                <a:tc>
                  <a:txBody>
                    <a:bodyPr/>
                    <a:lstStyle/>
                    <a:p>
                      <a:pPr>
                        <a:buNone/>
                      </a:pPr>
                      <a:r>
                        <a:rPr lang="en-US" sz="1500" dirty="0"/>
                        <a:t>History of angina pectoris, arteriosclerosis obliterans,</a:t>
                      </a:r>
                      <a:r>
                        <a:rPr lang="zh-CN" altLang="en-US" sz="1500" dirty="0"/>
                        <a:t> </a:t>
                      </a:r>
                      <a:r>
                        <a:rPr lang="en-US" sz="1500" dirty="0"/>
                        <a:t>cerebral infarction, dyslipidemia, heart failure,</a:t>
                      </a:r>
                      <a:r>
                        <a:rPr lang="zh-CN" altLang="en-US" sz="1500" dirty="0"/>
                        <a:t> </a:t>
                      </a:r>
                      <a:r>
                        <a:rPr lang="en-US" sz="1500" dirty="0"/>
                        <a:t>hypertension, hyperuricemia, kidney disease, liver disease, myocardial infarction</a:t>
                      </a:r>
                    </a:p>
                  </a:txBody>
                  <a:tcPr marL="76339" marR="76339" marT="38170" marB="38170" anchor="ctr"/>
                </a:tc>
                <a:extLst>
                  <a:ext uri="{0D108BD9-81ED-4DB2-BD59-A6C34878D82A}">
                    <a16:rowId xmlns:a16="http://schemas.microsoft.com/office/drawing/2014/main" val="1041847341"/>
                  </a:ext>
                </a:extLst>
              </a:tr>
              <a:tr h="214341">
                <a:tc>
                  <a:txBody>
                    <a:bodyPr/>
                    <a:lstStyle/>
                    <a:p>
                      <a:pPr>
                        <a:buNone/>
                      </a:pPr>
                      <a:r>
                        <a:rPr lang="en-US" sz="1500" b="1"/>
                        <a:t>Other Measurements</a:t>
                      </a:r>
                      <a:endParaRPr lang="en-US" sz="1500"/>
                    </a:p>
                  </a:txBody>
                  <a:tcPr marL="76339" marR="76339" marT="38170" marB="38170" anchor="ctr"/>
                </a:tc>
                <a:tc>
                  <a:txBody>
                    <a:bodyPr/>
                    <a:lstStyle/>
                    <a:p>
                      <a:pPr>
                        <a:buNone/>
                      </a:pPr>
                      <a:r>
                        <a:rPr lang="en-US" sz="1500" dirty="0"/>
                        <a:t>Body height, Body weight, GTP</a:t>
                      </a:r>
                    </a:p>
                  </a:txBody>
                  <a:tcPr marL="76339" marR="76339" marT="38170" marB="38170" anchor="ctr"/>
                </a:tc>
                <a:extLst>
                  <a:ext uri="{0D108BD9-81ED-4DB2-BD59-A6C34878D82A}">
                    <a16:rowId xmlns:a16="http://schemas.microsoft.com/office/drawing/2014/main" val="1055631377"/>
                  </a:ext>
                </a:extLst>
              </a:tr>
            </a:tbl>
          </a:graphicData>
        </a:graphic>
      </p:graphicFrame>
      <p:sp>
        <p:nvSpPr>
          <p:cNvPr id="3" name="TextBox 2">
            <a:extLst>
              <a:ext uri="{FF2B5EF4-FFF2-40B4-BE49-F238E27FC236}">
                <a16:creationId xmlns:a16="http://schemas.microsoft.com/office/drawing/2014/main" id="{F8E00814-0859-57D1-7157-A352CDCA8D4F}"/>
              </a:ext>
            </a:extLst>
          </p:cNvPr>
          <p:cNvSpPr txBox="1"/>
          <p:nvPr/>
        </p:nvSpPr>
        <p:spPr>
          <a:xfrm>
            <a:off x="766119" y="5733535"/>
            <a:ext cx="8174674" cy="646331"/>
          </a:xfrm>
          <a:prstGeom prst="rect">
            <a:avLst/>
          </a:prstGeom>
          <a:noFill/>
        </p:spPr>
        <p:txBody>
          <a:bodyPr wrap="none" rtlCol="0">
            <a:spAutoFit/>
          </a:bodyPr>
          <a:lstStyle/>
          <a:p>
            <a:r>
              <a:rPr lang="en-KR" b="1" dirty="0">
                <a:solidFill>
                  <a:srgbClr val="000000"/>
                </a:solidFill>
                <a:latin typeface="Times New Roman" panose="02020603050405020304" pitchFamily="18" charset="0"/>
                <a:ea typeface="DengXian" panose="02010600030101010101" pitchFamily="2" charset="-122"/>
              </a:rPr>
              <a:t>Supplementary </a:t>
            </a:r>
            <a:r>
              <a:rPr lang="en-US" b="1" dirty="0">
                <a:solidFill>
                  <a:srgbClr val="000000"/>
                </a:solidFill>
                <a:latin typeface="Times New Roman" panose="02020603050405020304" pitchFamily="18" charset="0"/>
                <a:ea typeface="DengXian" panose="02010600030101010101" pitchFamily="2" charset="-122"/>
              </a:rPr>
              <a:t>Table 2 Metabolic Profiles Represented in the Japan T2D Dataset</a:t>
            </a:r>
          </a:p>
          <a:p>
            <a:endParaRPr lang="en-KR" dirty="0"/>
          </a:p>
        </p:txBody>
      </p:sp>
    </p:spTree>
    <p:extLst>
      <p:ext uri="{BB962C8B-B14F-4D97-AF65-F5344CB8AC3E}">
        <p14:creationId xmlns:p14="http://schemas.microsoft.com/office/powerpoint/2010/main" val="228282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9556-7D37-EB1E-A20D-17C60C08B0E4}"/>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EDA-Description</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of</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KARE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T2D</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Dataset</a:t>
            </a:r>
            <a:endParaRPr lang="en-KR" dirty="0"/>
          </a:p>
        </p:txBody>
      </p:sp>
      <p:graphicFrame>
        <p:nvGraphicFramePr>
          <p:cNvPr id="4" name="Content Placeholder 3">
            <a:extLst>
              <a:ext uri="{FF2B5EF4-FFF2-40B4-BE49-F238E27FC236}">
                <a16:creationId xmlns:a16="http://schemas.microsoft.com/office/drawing/2014/main" id="{2833A3F4-62D7-685E-B092-2FF9BF1EAC48}"/>
              </a:ext>
            </a:extLst>
          </p:cNvPr>
          <p:cNvGraphicFramePr>
            <a:graphicFrameLocks noGrp="1"/>
          </p:cNvGraphicFramePr>
          <p:nvPr>
            <p:ph idx="1"/>
            <p:extLst>
              <p:ext uri="{D42A27DB-BD31-4B8C-83A1-F6EECF244321}">
                <p14:modId xmlns:p14="http://schemas.microsoft.com/office/powerpoint/2010/main" val="3009436093"/>
              </p:ext>
            </p:extLst>
          </p:nvPr>
        </p:nvGraphicFramePr>
        <p:xfrm>
          <a:off x="1035627" y="1884318"/>
          <a:ext cx="10120745" cy="3749040"/>
        </p:xfrm>
        <a:graphic>
          <a:graphicData uri="http://schemas.openxmlformats.org/drawingml/2006/table">
            <a:tbl>
              <a:tblPr firstRow="1" bandRow="1">
                <a:tableStyleId>{B301B821-A1FF-4177-AEE7-76D212191A09}</a:tableStyleId>
              </a:tblPr>
              <a:tblGrid>
                <a:gridCol w="3566929">
                  <a:extLst>
                    <a:ext uri="{9D8B030D-6E8A-4147-A177-3AD203B41FA5}">
                      <a16:colId xmlns:a16="http://schemas.microsoft.com/office/drawing/2014/main" val="207224187"/>
                    </a:ext>
                  </a:extLst>
                </a:gridCol>
                <a:gridCol w="6553816">
                  <a:extLst>
                    <a:ext uri="{9D8B030D-6E8A-4147-A177-3AD203B41FA5}">
                      <a16:colId xmlns:a16="http://schemas.microsoft.com/office/drawing/2014/main" val="48232788"/>
                    </a:ext>
                  </a:extLst>
                </a:gridCol>
              </a:tblGrid>
              <a:tr h="173003">
                <a:tc>
                  <a:txBody>
                    <a:bodyPr/>
                    <a:lstStyle/>
                    <a:p>
                      <a:pPr>
                        <a:buNone/>
                      </a:pPr>
                      <a:r>
                        <a:rPr lang="en-US" b="1" dirty="0"/>
                        <a:t>Category</a:t>
                      </a:r>
                      <a:endParaRPr lang="en-US" dirty="0"/>
                    </a:p>
                  </a:txBody>
                  <a:tcPr anchor="ctr"/>
                </a:tc>
                <a:tc>
                  <a:txBody>
                    <a:bodyPr/>
                    <a:lstStyle/>
                    <a:p>
                      <a:pPr>
                        <a:buNone/>
                      </a:pPr>
                      <a:r>
                        <a:rPr lang="en-US" b="1" dirty="0"/>
                        <a:t>Example Columns</a:t>
                      </a:r>
                      <a:endParaRPr lang="en-US" dirty="0"/>
                    </a:p>
                  </a:txBody>
                  <a:tcPr anchor="ctr"/>
                </a:tc>
                <a:extLst>
                  <a:ext uri="{0D108BD9-81ED-4DB2-BD59-A6C34878D82A}">
                    <a16:rowId xmlns:a16="http://schemas.microsoft.com/office/drawing/2014/main" val="2236981185"/>
                  </a:ext>
                </a:extLst>
              </a:tr>
              <a:tr h="173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Demographics</a:t>
                      </a:r>
                    </a:p>
                  </a:txBody>
                  <a:tcPr anchor="ctr"/>
                </a:tc>
                <a:tc>
                  <a:txBody>
                    <a:bodyPr/>
                    <a:lstStyle/>
                    <a:p>
                      <a:pPr>
                        <a:buNone/>
                      </a:pPr>
                      <a:r>
                        <a:rPr lang="en-US" dirty="0"/>
                        <a:t>Sex</a:t>
                      </a:r>
                      <a:r>
                        <a:rPr lang="en-US" altLang="zh-CN" dirty="0"/>
                        <a:t>,</a:t>
                      </a:r>
                      <a:r>
                        <a:rPr lang="zh-CN" altLang="en-US" dirty="0"/>
                        <a:t> </a:t>
                      </a:r>
                      <a:r>
                        <a:rPr lang="en-US" altLang="zh-CN" dirty="0"/>
                        <a:t>age,</a:t>
                      </a:r>
                      <a:r>
                        <a:rPr lang="zh-CN" altLang="en-US" dirty="0"/>
                        <a:t> </a:t>
                      </a:r>
                      <a:r>
                        <a:rPr lang="en-US" altLang="zh-CN" dirty="0"/>
                        <a:t>BMI</a:t>
                      </a:r>
                      <a:endParaRPr lang="en-US" dirty="0"/>
                    </a:p>
                  </a:txBody>
                  <a:tcPr anchor="ctr"/>
                </a:tc>
                <a:extLst>
                  <a:ext uri="{0D108BD9-81ED-4DB2-BD59-A6C34878D82A}">
                    <a16:rowId xmlns:a16="http://schemas.microsoft.com/office/drawing/2014/main" val="1280780515"/>
                  </a:ext>
                </a:extLst>
              </a:tr>
              <a:tr h="302755">
                <a:tc>
                  <a:txBody>
                    <a:bodyPr/>
                    <a:lstStyle/>
                    <a:p>
                      <a:pPr>
                        <a:buNone/>
                      </a:pPr>
                      <a:r>
                        <a:rPr lang="en-US" b="1" dirty="0"/>
                        <a:t>Amino Acids</a:t>
                      </a:r>
                      <a:endParaRPr lang="en-US" dirty="0"/>
                    </a:p>
                  </a:txBody>
                  <a:tcPr anchor="ctr"/>
                </a:tc>
                <a:tc>
                  <a:txBody>
                    <a:bodyPr/>
                    <a:lstStyle/>
                    <a:p>
                      <a:pPr>
                        <a:buNone/>
                      </a:pPr>
                      <a:r>
                        <a:rPr lang="en-US"/>
                        <a:t>Alanine, Arginine, Asparagine, Aspartate, Glutamate, Glycine, Valine, etc.</a:t>
                      </a:r>
                    </a:p>
                  </a:txBody>
                  <a:tcPr anchor="ctr"/>
                </a:tc>
                <a:extLst>
                  <a:ext uri="{0D108BD9-81ED-4DB2-BD59-A6C34878D82A}">
                    <a16:rowId xmlns:a16="http://schemas.microsoft.com/office/drawing/2014/main" val="1619677119"/>
                  </a:ext>
                </a:extLst>
              </a:tr>
              <a:tr h="302755">
                <a:tc>
                  <a:txBody>
                    <a:bodyPr/>
                    <a:lstStyle/>
                    <a:p>
                      <a:pPr>
                        <a:buNone/>
                      </a:pPr>
                      <a:r>
                        <a:rPr lang="en-US" b="1"/>
                        <a:t>Acylcarnitines &amp; Lipid Metabolism</a:t>
                      </a:r>
                      <a:endParaRPr lang="en-US"/>
                    </a:p>
                  </a:txBody>
                  <a:tcPr anchor="ctr"/>
                </a:tc>
                <a:tc>
                  <a:txBody>
                    <a:bodyPr/>
                    <a:lstStyle/>
                    <a:p>
                      <a:pPr>
                        <a:buNone/>
                      </a:pPr>
                      <a:r>
                        <a:rPr lang="en-US" dirty="0" err="1"/>
                        <a:t>Acetylcarnitine</a:t>
                      </a:r>
                      <a:r>
                        <a:rPr lang="en-US" dirty="0"/>
                        <a:t>, </a:t>
                      </a:r>
                      <a:r>
                        <a:rPr lang="en-US" dirty="0" err="1"/>
                        <a:t>Butanoyl_carnitine</a:t>
                      </a:r>
                      <a:r>
                        <a:rPr lang="en-US" dirty="0"/>
                        <a:t>, </a:t>
                      </a:r>
                      <a:r>
                        <a:rPr lang="en-US" dirty="0" err="1"/>
                        <a:t>Hexanoyl_carnitine</a:t>
                      </a:r>
                      <a:r>
                        <a:rPr lang="en-US" dirty="0"/>
                        <a:t>, </a:t>
                      </a:r>
                      <a:r>
                        <a:rPr lang="en-US" dirty="0" err="1"/>
                        <a:t>Lauroyl_carnitine</a:t>
                      </a:r>
                      <a:r>
                        <a:rPr lang="en-US" dirty="0"/>
                        <a:t>, etc.</a:t>
                      </a:r>
                    </a:p>
                  </a:txBody>
                  <a:tcPr anchor="ctr"/>
                </a:tc>
                <a:extLst>
                  <a:ext uri="{0D108BD9-81ED-4DB2-BD59-A6C34878D82A}">
                    <a16:rowId xmlns:a16="http://schemas.microsoft.com/office/drawing/2014/main" val="3479273984"/>
                  </a:ext>
                </a:extLst>
              </a:tr>
              <a:tr h="302755">
                <a:tc>
                  <a:txBody>
                    <a:bodyPr/>
                    <a:lstStyle/>
                    <a:p>
                      <a:pPr>
                        <a:buNone/>
                      </a:pPr>
                      <a:r>
                        <a:rPr lang="en-US" b="1"/>
                        <a:t>Choline/Methylation Pathway</a:t>
                      </a:r>
                      <a:endParaRPr lang="en-US"/>
                    </a:p>
                  </a:txBody>
                  <a:tcPr anchor="ctr"/>
                </a:tc>
                <a:tc>
                  <a:txBody>
                    <a:bodyPr/>
                    <a:lstStyle/>
                    <a:p>
                      <a:pPr>
                        <a:buNone/>
                      </a:pPr>
                      <a:r>
                        <a:rPr lang="en-US"/>
                        <a:t>Betaine, Choline, Dimethylglycine__DMG_, TMAO, sn_glycerol_3_phosphocholine</a:t>
                      </a:r>
                    </a:p>
                  </a:txBody>
                  <a:tcPr anchor="ctr"/>
                </a:tc>
                <a:extLst>
                  <a:ext uri="{0D108BD9-81ED-4DB2-BD59-A6C34878D82A}">
                    <a16:rowId xmlns:a16="http://schemas.microsoft.com/office/drawing/2014/main" val="2668750234"/>
                  </a:ext>
                </a:extLst>
              </a:tr>
              <a:tr h="173003">
                <a:tc>
                  <a:txBody>
                    <a:bodyPr/>
                    <a:lstStyle/>
                    <a:p>
                      <a:pPr>
                        <a:buNone/>
                      </a:pPr>
                      <a:r>
                        <a:rPr lang="en-US" b="1"/>
                        <a:t>Nucleotide Metabolism</a:t>
                      </a:r>
                      <a:endParaRPr lang="en-US"/>
                    </a:p>
                  </a:txBody>
                  <a:tcPr anchor="ctr"/>
                </a:tc>
                <a:tc>
                  <a:txBody>
                    <a:bodyPr/>
                    <a:lstStyle/>
                    <a:p>
                      <a:pPr>
                        <a:buNone/>
                      </a:pPr>
                      <a:r>
                        <a:rPr lang="en-US" dirty="0"/>
                        <a:t>Inosine, Xanthine, Hypoxanthine, Uridine, </a:t>
                      </a:r>
                      <a:r>
                        <a:rPr lang="en-US" dirty="0" err="1"/>
                        <a:t>Xanthosine</a:t>
                      </a:r>
                      <a:endParaRPr lang="en-US" dirty="0"/>
                    </a:p>
                  </a:txBody>
                  <a:tcPr anchor="ctr"/>
                </a:tc>
                <a:extLst>
                  <a:ext uri="{0D108BD9-81ED-4DB2-BD59-A6C34878D82A}">
                    <a16:rowId xmlns:a16="http://schemas.microsoft.com/office/drawing/2014/main" val="3271945462"/>
                  </a:ext>
                </a:extLst>
              </a:tr>
              <a:tr h="173003">
                <a:tc>
                  <a:txBody>
                    <a:bodyPr/>
                    <a:lstStyle/>
                    <a:p>
                      <a:pPr>
                        <a:buNone/>
                      </a:pPr>
                      <a:r>
                        <a:rPr lang="en-US" b="1"/>
                        <a:t>Energy/Organic Acids</a:t>
                      </a:r>
                      <a:endParaRPr lang="en-US"/>
                    </a:p>
                  </a:txBody>
                  <a:tcPr anchor="ctr"/>
                </a:tc>
                <a:tc>
                  <a:txBody>
                    <a:bodyPr/>
                    <a:lstStyle/>
                    <a:p>
                      <a:pPr>
                        <a:buNone/>
                      </a:pPr>
                      <a:r>
                        <a:rPr lang="en-US" dirty="0"/>
                        <a:t>Lactate, Succinate, Creatine, </a:t>
                      </a:r>
                      <a:r>
                        <a:rPr lang="en-US" dirty="0" err="1"/>
                        <a:t>Pyroglutamic_acid</a:t>
                      </a:r>
                      <a:r>
                        <a:rPr lang="en-US" dirty="0"/>
                        <a:t>, Urea, etc.</a:t>
                      </a:r>
                    </a:p>
                  </a:txBody>
                  <a:tcPr anchor="ctr"/>
                </a:tc>
                <a:extLst>
                  <a:ext uri="{0D108BD9-81ED-4DB2-BD59-A6C34878D82A}">
                    <a16:rowId xmlns:a16="http://schemas.microsoft.com/office/drawing/2014/main" val="670153548"/>
                  </a:ext>
                </a:extLst>
              </a:tr>
              <a:tr h="0">
                <a:tc>
                  <a:txBody>
                    <a:bodyPr/>
                    <a:lstStyle/>
                    <a:p>
                      <a:pPr>
                        <a:buNone/>
                      </a:pPr>
                      <a:r>
                        <a:rPr lang="en-US" b="1"/>
                        <a:t>Other Metabolites</a:t>
                      </a:r>
                      <a:endParaRPr lang="en-US"/>
                    </a:p>
                  </a:txBody>
                  <a:tcPr anchor="ctr"/>
                </a:tc>
                <a:tc>
                  <a:txBody>
                    <a:bodyPr/>
                    <a:lstStyle/>
                    <a:p>
                      <a:pPr>
                        <a:buNone/>
                      </a:pPr>
                      <a:r>
                        <a:rPr lang="en-US" dirty="0"/>
                        <a:t>Cysteine, Methionine, Kynurenine, Trigonelline, Taurine, etc.</a:t>
                      </a:r>
                    </a:p>
                  </a:txBody>
                  <a:tcPr anchor="ctr"/>
                </a:tc>
                <a:extLst>
                  <a:ext uri="{0D108BD9-81ED-4DB2-BD59-A6C34878D82A}">
                    <a16:rowId xmlns:a16="http://schemas.microsoft.com/office/drawing/2014/main" val="3074147225"/>
                  </a:ext>
                </a:extLst>
              </a:tr>
            </a:tbl>
          </a:graphicData>
        </a:graphic>
      </p:graphicFrame>
    </p:spTree>
    <p:extLst>
      <p:ext uri="{BB962C8B-B14F-4D97-AF65-F5344CB8AC3E}">
        <p14:creationId xmlns:p14="http://schemas.microsoft.com/office/powerpoint/2010/main" val="2060096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A02DF-F17D-B97A-AC91-7DEA63ABE51C}"/>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EDA</a:t>
            </a:r>
            <a:r>
              <a:rPr lang="en-US" altLang="zh-CN" sz="3600" dirty="0">
                <a:latin typeface="Times New Roman" panose="02020603050405020304" pitchFamily="18" charset="0"/>
                <a:cs typeface="Times New Roman" panose="02020603050405020304" pitchFamily="18" charset="0"/>
              </a:rPr>
              <a:t>-Trajectories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and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Frequency</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Distribution</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(JP</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FPG)</a:t>
            </a:r>
            <a:endParaRPr lang="en-KR" sz="3600" dirty="0"/>
          </a:p>
        </p:txBody>
      </p:sp>
      <p:pic>
        <p:nvPicPr>
          <p:cNvPr id="4" name="Content Placeholder 3" descr="A graph with many colored lines&#10;&#10;AI-generated content may be incorrect.">
            <a:extLst>
              <a:ext uri="{FF2B5EF4-FFF2-40B4-BE49-F238E27FC236}">
                <a16:creationId xmlns:a16="http://schemas.microsoft.com/office/drawing/2014/main" id="{A579BE5B-DB20-65F7-F795-F45DE90C4B8E}"/>
              </a:ext>
            </a:extLst>
          </p:cNvPr>
          <p:cNvPicPr>
            <a:picLocks noGrp="1" noChangeAspect="1"/>
          </p:cNvPicPr>
          <p:nvPr>
            <p:ph idx="1"/>
          </p:nvPr>
        </p:nvPicPr>
        <p:blipFill>
          <a:blip r:embed="rId2"/>
          <a:stretch>
            <a:fillRect/>
          </a:stretch>
        </p:blipFill>
        <p:spPr>
          <a:xfrm>
            <a:off x="397282" y="1739424"/>
            <a:ext cx="5829150" cy="4351338"/>
          </a:xfrm>
          <a:prstGeom prst="rect">
            <a:avLst/>
          </a:prstGeom>
        </p:spPr>
      </p:pic>
      <p:sp>
        <p:nvSpPr>
          <p:cNvPr id="7" name="TextBox 6">
            <a:extLst>
              <a:ext uri="{FF2B5EF4-FFF2-40B4-BE49-F238E27FC236}">
                <a16:creationId xmlns:a16="http://schemas.microsoft.com/office/drawing/2014/main" id="{62E71D6E-5178-6BDF-EA4E-BA59EC75CCB4}"/>
              </a:ext>
            </a:extLst>
          </p:cNvPr>
          <p:cNvSpPr txBox="1"/>
          <p:nvPr/>
        </p:nvSpPr>
        <p:spPr>
          <a:xfrm>
            <a:off x="6810233" y="4272677"/>
            <a:ext cx="5381767" cy="258532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Pre</a:t>
            </a:r>
            <a:r>
              <a:rPr lang="en-US" altLang="zh-CN" b="1"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processing</a:t>
            </a:r>
            <a:r>
              <a:rPr lang="en-US" altLang="zh-CN" b="1" dirty="0">
                <a:latin typeface="Times New Roman" panose="02020603050405020304" pitchFamily="18" charset="0"/>
                <a:cs typeface="Times New Roman" panose="02020603050405020304" pitchFamily="18" charset="0"/>
              </a:rPr>
              <a:t>:</a:t>
            </a:r>
          </a:p>
          <a:p>
            <a:pPr>
              <a:buNone/>
            </a:pPr>
            <a:r>
              <a:rPr lang="en-US" b="1" dirty="0">
                <a:latin typeface="Times New Roman" panose="02020603050405020304" pitchFamily="18" charset="0"/>
                <a:cs typeface="Times New Roman" panose="02020603050405020304" pitchFamily="18" charset="0"/>
              </a:rPr>
              <a:t>799 </a:t>
            </a:r>
            <a:r>
              <a:rPr lang="en-US" dirty="0">
                <a:latin typeface="Times New Roman" panose="02020603050405020304" pitchFamily="18" charset="0"/>
                <a:cs typeface="Times New Roman" panose="02020603050405020304" pitchFamily="18" charset="0"/>
              </a:rPr>
              <a:t>subjects</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2015</a:t>
            </a:r>
            <a:r>
              <a:rPr lang="zh-CN" altLang="en-US"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observations,</a:t>
            </a:r>
            <a:r>
              <a:rPr lang="zh-CN" alt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59 </a:t>
            </a:r>
            <a:r>
              <a:rPr lang="en-US" dirty="0">
                <a:latin typeface="Times New Roman" panose="02020603050405020304" pitchFamily="18" charset="0"/>
                <a:cs typeface="Times New Roman" panose="02020603050405020304" pitchFamily="18" charset="0"/>
              </a:rPr>
              <a:t>features.</a:t>
            </a:r>
          </a:p>
          <a:p>
            <a:pPr>
              <a:buFont typeface="+mj-lt"/>
              <a:buAutoNum type="arabicPeriod"/>
            </a:pPr>
            <a:r>
              <a:rPr lang="en-US" dirty="0">
                <a:latin typeface="Times New Roman" panose="02020603050405020304" pitchFamily="18" charset="0"/>
                <a:cs typeface="Times New Roman" panose="02020603050405020304" pitchFamily="18" charset="0"/>
              </a:rPr>
              <a:t>Removed features with more than 20% N</a:t>
            </a:r>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(leaving</a:t>
            </a:r>
            <a:r>
              <a:rPr lang="en-US" b="1" dirty="0">
                <a:latin typeface="Times New Roman" panose="02020603050405020304" pitchFamily="18" charset="0"/>
                <a:cs typeface="Times New Roman" panose="02020603050405020304" pitchFamily="18" charset="0"/>
              </a:rPr>
              <a:t> 4</a:t>
            </a:r>
            <a:r>
              <a:rPr lang="en-US" altLang="zh-CN" b="1" dirty="0">
                <a:latin typeface="Times New Roman" panose="02020603050405020304" pitchFamily="18" charset="0"/>
                <a:cs typeface="Times New Roman" panose="02020603050405020304" pitchFamily="18" charset="0"/>
              </a:rPr>
              <a:t>4</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features).</a:t>
            </a:r>
          </a:p>
          <a:p>
            <a:pPr>
              <a:buFont typeface="+mj-lt"/>
              <a:buAutoNum type="arabicPeriod"/>
            </a:pPr>
            <a:r>
              <a:rPr lang="en-US" dirty="0">
                <a:latin typeface="Times New Roman" panose="02020603050405020304" pitchFamily="18" charset="0"/>
                <a:cs typeface="Times New Roman" panose="02020603050405020304" pitchFamily="18" charset="0"/>
              </a:rPr>
              <a:t>Removed observations with more than </a:t>
            </a:r>
            <a:r>
              <a:rPr lang="en-US" altLang="zh-CN"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0% N</a:t>
            </a:r>
            <a:r>
              <a:rPr lang="en-US" altLang="zh-CN"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leaving</a:t>
            </a:r>
            <a:r>
              <a:rPr lang="zh-CN" altLang="en-US"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1860</a:t>
            </a:r>
            <a:r>
              <a:rPr lang="zh-CN" alt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observations).</a:t>
            </a:r>
          </a:p>
          <a:p>
            <a:pPr>
              <a:buFont typeface="+mj-lt"/>
              <a:buAutoNum type="arabicPeriod"/>
            </a:pPr>
            <a:r>
              <a:rPr lang="en-US" dirty="0">
                <a:latin typeface="Times New Roman" panose="02020603050405020304" pitchFamily="18" charset="0"/>
                <a:cs typeface="Times New Roman" panose="02020603050405020304" pitchFamily="18" charset="0"/>
              </a:rPr>
              <a:t>For imputation, categorical variables were filled with the </a:t>
            </a:r>
            <a:r>
              <a:rPr lang="en-US" b="1" dirty="0">
                <a:latin typeface="Times New Roman" panose="02020603050405020304" pitchFamily="18" charset="0"/>
                <a:cs typeface="Times New Roman" panose="02020603050405020304" pitchFamily="18" charset="0"/>
              </a:rPr>
              <a:t>global mode</a:t>
            </a:r>
            <a:r>
              <a:rPr lang="en-US" dirty="0">
                <a:latin typeface="Times New Roman" panose="02020603050405020304" pitchFamily="18" charset="0"/>
                <a:cs typeface="Times New Roman" panose="02020603050405020304" pitchFamily="18" charset="0"/>
              </a:rPr>
              <a:t>, and continuous variables were filled with the </a:t>
            </a:r>
            <a:r>
              <a:rPr lang="en-US" b="1" dirty="0">
                <a:latin typeface="Times New Roman" panose="02020603050405020304" pitchFamily="18" charset="0"/>
                <a:cs typeface="Times New Roman" panose="02020603050405020304" pitchFamily="18" charset="0"/>
              </a:rPr>
              <a:t>KNN</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mean.</a:t>
            </a:r>
            <a:endParaRPr lang="en-US"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8DE9DCE-4982-B71A-DBA2-E90D606DB1A1}"/>
              </a:ext>
            </a:extLst>
          </p:cNvPr>
          <p:cNvSpPr txBox="1"/>
          <p:nvPr/>
        </p:nvSpPr>
        <p:spPr>
          <a:xfrm>
            <a:off x="233150" y="6139498"/>
            <a:ext cx="6566848" cy="646331"/>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Figure</a:t>
            </a:r>
            <a:r>
              <a:rPr lang="zh-CN" altLang="en-US"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x:</a:t>
            </a:r>
            <a:r>
              <a:rPr lang="zh-CN"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Trajectories of </a:t>
            </a:r>
            <a:r>
              <a:rPr lang="en-US" altLang="zh-CN" sz="1800" b="1" dirty="0">
                <a:latin typeface="Times New Roman" panose="02020603050405020304" pitchFamily="18" charset="0"/>
                <a:cs typeface="Times New Roman" panose="02020603050405020304" pitchFamily="18" charset="0"/>
              </a:rPr>
              <a:t>fasting</a:t>
            </a:r>
            <a:r>
              <a:rPr lang="zh-CN" altLang="en-US"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plasma</a:t>
            </a:r>
            <a:r>
              <a:rPr lang="zh-CN" altLang="en-US"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glucose</a:t>
            </a:r>
            <a:r>
              <a:rPr lang="zh-CN"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for </a:t>
            </a:r>
            <a:r>
              <a:rPr lang="en-US" altLang="zh-CN" b="1" dirty="0">
                <a:latin typeface="Times New Roman" panose="02020603050405020304" pitchFamily="18" charset="0"/>
                <a:cs typeface="Times New Roman" panose="02020603050405020304" pitchFamily="18" charset="0"/>
              </a:rPr>
              <a:t>i</a:t>
            </a:r>
            <a:r>
              <a:rPr lang="en-US" sz="1800" b="1" dirty="0">
                <a:latin typeface="Times New Roman" panose="02020603050405020304" pitchFamily="18" charset="0"/>
                <a:cs typeface="Times New Roman" panose="02020603050405020304" pitchFamily="18" charset="0"/>
              </a:rPr>
              <a:t>ndividuals</a:t>
            </a:r>
            <a:r>
              <a:rPr lang="zh-CN" altLang="en-US"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red dots represent samples with only one observation.</a:t>
            </a:r>
          </a:p>
        </p:txBody>
      </p:sp>
      <p:graphicFrame>
        <p:nvGraphicFramePr>
          <p:cNvPr id="3" name="Table 2">
            <a:extLst>
              <a:ext uri="{FF2B5EF4-FFF2-40B4-BE49-F238E27FC236}">
                <a16:creationId xmlns:a16="http://schemas.microsoft.com/office/drawing/2014/main" id="{5A21F37B-4C24-1066-258E-30B2B9A5EE56}"/>
              </a:ext>
            </a:extLst>
          </p:cNvPr>
          <p:cNvGraphicFramePr>
            <a:graphicFrameLocks noGrp="1"/>
          </p:cNvGraphicFramePr>
          <p:nvPr>
            <p:extLst>
              <p:ext uri="{D42A27DB-BD31-4B8C-83A1-F6EECF244321}">
                <p14:modId xmlns:p14="http://schemas.microsoft.com/office/powerpoint/2010/main" val="2190599995"/>
              </p:ext>
            </p:extLst>
          </p:nvPr>
        </p:nvGraphicFramePr>
        <p:xfrm>
          <a:off x="6799998" y="1904809"/>
          <a:ext cx="4824043" cy="2010284"/>
        </p:xfrm>
        <a:graphic>
          <a:graphicData uri="http://schemas.openxmlformats.org/drawingml/2006/table">
            <a:tbl>
              <a:tblPr firstRow="1" bandRow="1">
                <a:tableStyleId>{B301B821-A1FF-4177-AEE7-76D212191A09}</a:tableStyleId>
              </a:tblPr>
              <a:tblGrid>
                <a:gridCol w="1634142">
                  <a:extLst>
                    <a:ext uri="{9D8B030D-6E8A-4147-A177-3AD203B41FA5}">
                      <a16:colId xmlns:a16="http://schemas.microsoft.com/office/drawing/2014/main" val="2135198747"/>
                    </a:ext>
                  </a:extLst>
                </a:gridCol>
                <a:gridCol w="1580713">
                  <a:extLst>
                    <a:ext uri="{9D8B030D-6E8A-4147-A177-3AD203B41FA5}">
                      <a16:colId xmlns:a16="http://schemas.microsoft.com/office/drawing/2014/main" val="426410857"/>
                    </a:ext>
                  </a:extLst>
                </a:gridCol>
                <a:gridCol w="1609188">
                  <a:extLst>
                    <a:ext uri="{9D8B030D-6E8A-4147-A177-3AD203B41FA5}">
                      <a16:colId xmlns:a16="http://schemas.microsoft.com/office/drawing/2014/main" val="1286943060"/>
                    </a:ext>
                  </a:extLst>
                </a:gridCol>
              </a:tblGrid>
              <a:tr h="523774">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Measurements </a:t>
                      </a:r>
                      <a:r>
                        <a:rPr lang="en-US" altLang="zh-CN" sz="1400" kern="100" dirty="0">
                          <a:effectLst/>
                          <a:latin typeface="Times New Roman" panose="02020603050405020304" pitchFamily="18" charset="0"/>
                          <a:cs typeface="Times New Roman" panose="02020603050405020304" pitchFamily="18" charset="0"/>
                        </a:rPr>
                        <a:t>P</a:t>
                      </a:r>
                      <a:r>
                        <a:rPr lang="en-US" sz="1400" kern="100" dirty="0">
                          <a:effectLst/>
                          <a:latin typeface="Times New Roman" panose="02020603050405020304" pitchFamily="18" charset="0"/>
                          <a:cs typeface="Times New Roman" panose="02020603050405020304" pitchFamily="18" charset="0"/>
                        </a:rPr>
                        <a:t>er Subject</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Count of Subject (COVID-19)</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Count of Subject (</a:t>
                      </a:r>
                      <a:r>
                        <a:rPr lang="en-US" altLang="zh-CN" sz="1400" kern="100" dirty="0">
                          <a:effectLst/>
                          <a:latin typeface="Times New Roman" panose="02020603050405020304" pitchFamily="18" charset="0"/>
                          <a:cs typeface="Times New Roman" panose="02020603050405020304" pitchFamily="18" charset="0"/>
                        </a:rPr>
                        <a:t>T2D</a:t>
                      </a:r>
                      <a:r>
                        <a:rPr lang="en-US" sz="1400" kern="100" dirty="0">
                          <a:effectLst/>
                          <a:latin typeface="Times New Roman" panose="02020603050405020304" pitchFamily="18" charset="0"/>
                          <a:cs typeface="Times New Roman" panose="02020603050405020304" pitchFamily="18" charset="0"/>
                        </a:rPr>
                        <a:t>)</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9805957"/>
                  </a:ext>
                </a:extLst>
              </a:tr>
              <a:tr h="245168">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1</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83</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77</a:t>
                      </a:r>
                      <a:endParaRPr lang="en-KR" sz="14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52516645"/>
                  </a:ext>
                </a:extLst>
              </a:tr>
              <a:tr h="245168">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2</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152</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84</a:t>
                      </a:r>
                      <a:endParaRPr lang="en-KR" sz="14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00580911"/>
                  </a:ext>
                </a:extLst>
              </a:tr>
              <a:tr h="245168">
                <a:tc>
                  <a:txBody>
                    <a:bodyPr/>
                    <a:lstStyle/>
                    <a:p>
                      <a:pPr algn="ctr">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3</a:t>
                      </a:r>
                      <a:endParaRPr lang="en-KR" sz="14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10</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141</a:t>
                      </a:r>
                      <a:endParaRPr lang="en-KR" sz="14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13513571"/>
                  </a:ext>
                </a:extLst>
              </a:tr>
              <a:tr h="245168">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4</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12</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298</a:t>
                      </a:r>
                      <a:endParaRPr lang="en-KR" sz="14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16247608"/>
                  </a:ext>
                </a:extLst>
              </a:tr>
              <a:tr h="245224">
                <a:tc>
                  <a:txBody>
                    <a:bodyPr/>
                    <a:lstStyle/>
                    <a:p>
                      <a:pPr algn="ctr">
                        <a:lnSpc>
                          <a:spcPct val="150000"/>
                        </a:lnSpc>
                        <a:spcAft>
                          <a:spcPts val="800"/>
                        </a:spcAft>
                        <a:buNone/>
                      </a:pPr>
                      <a:r>
                        <a:rPr lang="en-US" sz="1400" b="1" kern="100" dirty="0">
                          <a:effectLst/>
                          <a:latin typeface="Times New Roman" panose="02020603050405020304" pitchFamily="18" charset="0"/>
                          <a:cs typeface="Times New Roman" panose="02020603050405020304" pitchFamily="18" charset="0"/>
                        </a:rPr>
                        <a:t>Total</a:t>
                      </a:r>
                      <a:endParaRPr lang="en-KR" sz="1400" b="1"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b="1" kern="100" dirty="0">
                          <a:effectLst/>
                          <a:latin typeface="Times New Roman" panose="02020603050405020304" pitchFamily="18" charset="0"/>
                          <a:cs typeface="Times New Roman" panose="02020603050405020304" pitchFamily="18" charset="0"/>
                        </a:rPr>
                        <a:t>257</a:t>
                      </a:r>
                      <a:endParaRPr lang="en-KR" sz="1400" b="1"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US" sz="1400" b="1" kern="100" dirty="0">
                          <a:effectLst/>
                          <a:latin typeface="Times New Roman" panose="02020603050405020304" pitchFamily="18" charset="0"/>
                          <a:cs typeface="Times New Roman" panose="02020603050405020304" pitchFamily="18" charset="0"/>
                        </a:rPr>
                        <a:t>600</a:t>
                      </a:r>
                      <a:endParaRPr lang="en-KR" sz="1400" b="1"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54307369"/>
                  </a:ext>
                </a:extLst>
              </a:tr>
            </a:tbl>
          </a:graphicData>
        </a:graphic>
      </p:graphicFrame>
    </p:spTree>
    <p:extLst>
      <p:ext uri="{BB962C8B-B14F-4D97-AF65-F5344CB8AC3E}">
        <p14:creationId xmlns:p14="http://schemas.microsoft.com/office/powerpoint/2010/main" val="4135785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9E236-75FE-D527-528F-DBBCFFECDAAB}"/>
              </a:ext>
            </a:extLst>
          </p:cNvPr>
          <p:cNvSpPr>
            <a:spLocks noGrp="1"/>
          </p:cNvSpPr>
          <p:nvPr>
            <p:ph type="title"/>
          </p:nvPr>
        </p:nvSpPr>
        <p:spPr/>
        <p:txBody>
          <a:bodyPr>
            <a:normAutofit/>
          </a:bodyPr>
          <a:lstStyle/>
          <a:p>
            <a:r>
              <a:rPr lang="en-US" altLang="zh-CN" sz="4000" dirty="0">
                <a:latin typeface="Times New Roman" panose="02020603050405020304" pitchFamily="18" charset="0"/>
                <a:cs typeface="Times New Roman" panose="02020603050405020304" pitchFamily="18" charset="0"/>
              </a:rPr>
              <a:t>Shared</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Nearest</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Neighbors</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(SNN)</a:t>
            </a:r>
            <a:r>
              <a:rPr lang="zh-CN" altLang="en-US" sz="4000" baseline="30000" dirty="0">
                <a:latin typeface="Times New Roman" panose="02020603050405020304" pitchFamily="18" charset="0"/>
                <a:cs typeface="Times New Roman" panose="02020603050405020304" pitchFamily="18" charset="0"/>
              </a:rPr>
              <a:t> </a:t>
            </a:r>
            <a:r>
              <a:rPr lang="en-US" altLang="zh-CN" sz="4000" baseline="30000" dirty="0">
                <a:latin typeface="Times New Roman" panose="02020603050405020304" pitchFamily="18" charset="0"/>
                <a:cs typeface="Times New Roman" panose="02020603050405020304" pitchFamily="18" charset="0"/>
              </a:rPr>
              <a:t>[5]</a:t>
            </a:r>
            <a:endParaRPr lang="en-KR" sz="4000" baseline="30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5A7E91-140B-0A7B-3C4B-2F8D90BBB7AF}"/>
              </a:ext>
            </a:extLst>
          </p:cNvPr>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similarity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clustering method</a:t>
            </a:r>
            <a:r>
              <a:rPr lang="en-US" sz="2000" dirty="0">
                <a:latin typeface="Times New Roman" panose="02020603050405020304" pitchFamily="18" charset="0"/>
                <a:cs typeface="Times New Roman" panose="02020603050405020304" pitchFamily="18" charset="0"/>
              </a:rPr>
              <a:t> based on shared </a:t>
            </a:r>
            <a:r>
              <a:rPr lang="en-US" sz="2000" i="1" dirty="0">
                <a:latin typeface="Times New Roman" panose="02020603050405020304" pitchFamily="18" charset="0"/>
                <a:cs typeface="Times New Roman" panose="02020603050405020304" pitchFamily="18" charset="0"/>
              </a:rPr>
              <a:t>k</a:t>
            </a:r>
            <a:r>
              <a:rPr lang="en-US" sz="2000" dirty="0">
                <a:latin typeface="Times New Roman" panose="02020603050405020304" pitchFamily="18" charset="0"/>
                <a:cs typeface="Times New Roman" panose="02020603050405020304" pitchFamily="18" charset="0"/>
              </a:rPr>
              <a:t>-nearest neighbors is proposed.</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Similarity </a:t>
            </a:r>
            <a:r>
              <a:rPr lang="en-US" sz="2000" dirty="0">
                <a:latin typeface="Times New Roman" panose="02020603050405020304" pitchFamily="18" charset="0"/>
                <a:cs typeface="Times New Roman" panose="02020603050405020304" pitchFamily="18" charset="0"/>
              </a:rPr>
              <a:t>is defined as: the more neighbors two points share in their respective </a:t>
            </a:r>
            <a:r>
              <a:rPr lang="en-US" sz="2000" i="1" dirty="0">
                <a:latin typeface="Times New Roman" panose="02020603050405020304" pitchFamily="18" charset="0"/>
                <a:cs typeface="Times New Roman" panose="02020603050405020304" pitchFamily="18" charset="0"/>
              </a:rPr>
              <a:t>k</a:t>
            </a:r>
            <a:r>
              <a:rPr lang="en-US" sz="2000" dirty="0">
                <a:latin typeface="Times New Roman" panose="02020603050405020304" pitchFamily="18" charset="0"/>
                <a:cs typeface="Times New Roman" panose="02020603050405020304" pitchFamily="18" charset="0"/>
              </a:rPr>
              <a:t>-nearest neighbor lists, the more similar they are.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a:t>
            </a:r>
            <a:r>
              <a:rPr lang="en-US" sz="2000" b="1" dirty="0">
                <a:latin typeface="Times New Roman" panose="02020603050405020304" pitchFamily="18" charset="0"/>
                <a:cs typeface="Times New Roman" panose="02020603050405020304" pitchFamily="18" charset="0"/>
              </a:rPr>
              <a:t>clustering</a:t>
            </a:r>
            <a:r>
              <a:rPr lang="en-US" sz="2000" dirty="0">
                <a:latin typeface="Times New Roman" panose="02020603050405020304" pitchFamily="18" charset="0"/>
                <a:cs typeface="Times New Roman" panose="02020603050405020304" pitchFamily="18" charset="0"/>
              </a:rPr>
              <a:t>, if two points are in each other’s neighbor lists and share at least </a:t>
            </a:r>
            <a:r>
              <a:rPr lang="en-US" sz="2000" i="1" dirty="0">
                <a:latin typeface="Times New Roman" panose="02020603050405020304" pitchFamily="18" charset="0"/>
                <a:cs typeface="Times New Roman" panose="02020603050405020304" pitchFamily="18" charset="0"/>
              </a:rPr>
              <a:t>kₜ</a:t>
            </a:r>
            <a:r>
              <a:rPr lang="en-US" sz="2000" dirty="0">
                <a:latin typeface="Times New Roman" panose="02020603050405020304" pitchFamily="18" charset="0"/>
                <a:cs typeface="Times New Roman" panose="02020603050405020304" pitchFamily="18" charset="0"/>
              </a:rPr>
              <a:t> neighbors (a threshold), they are assigned to the same cluster.</a:t>
            </a:r>
          </a:p>
        </p:txBody>
      </p:sp>
      <p:pic>
        <p:nvPicPr>
          <p:cNvPr id="5" name="Picture 4" descr="A diagram of a network&#10;&#10;AI-generated content may be incorrect.">
            <a:extLst>
              <a:ext uri="{FF2B5EF4-FFF2-40B4-BE49-F238E27FC236}">
                <a16:creationId xmlns:a16="http://schemas.microsoft.com/office/drawing/2014/main" id="{2D197ECB-3022-1EB3-12AC-00753A987915}"/>
              </a:ext>
            </a:extLst>
          </p:cNvPr>
          <p:cNvPicPr>
            <a:picLocks noChangeAspect="1"/>
          </p:cNvPicPr>
          <p:nvPr/>
        </p:nvPicPr>
        <p:blipFill>
          <a:blip r:embed="rId2"/>
          <a:stretch>
            <a:fillRect/>
          </a:stretch>
        </p:blipFill>
        <p:spPr>
          <a:xfrm>
            <a:off x="7174524" y="4033586"/>
            <a:ext cx="2845571" cy="2824414"/>
          </a:xfrm>
          <a:prstGeom prst="rect">
            <a:avLst/>
          </a:prstGeom>
        </p:spPr>
      </p:pic>
    </p:spTree>
    <p:extLst>
      <p:ext uri="{BB962C8B-B14F-4D97-AF65-F5344CB8AC3E}">
        <p14:creationId xmlns:p14="http://schemas.microsoft.com/office/powerpoint/2010/main" val="3740274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B5AB-4331-2B44-59E0-5EEDD5558223}"/>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SNN-based</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Weighting</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Strategy</a:t>
            </a:r>
            <a:endParaRPr lang="en-K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9DCEDE-4497-DA74-D140-08CDA45CEC21}"/>
                  </a:ext>
                </a:extLst>
              </p:cNvPr>
              <p:cNvSpPr>
                <a:spLocks noGrp="1"/>
              </p:cNvSpPr>
              <p:nvPr>
                <p:ph idx="1"/>
              </p:nvPr>
            </p:nvSpPr>
            <p:spPr>
              <a:xfrm>
                <a:off x="838200" y="1825625"/>
                <a:ext cx="10922876" cy="4667250"/>
              </a:xfrm>
            </p:spPr>
            <p:txBody>
              <a:bodyPr>
                <a:normAutofit/>
              </a:bodyPr>
              <a:lstStyle/>
              <a:p>
                <a:pPr marL="0" indent="0">
                  <a:buNone/>
                </a:pPr>
                <a:r>
                  <a:rPr lang="en-US" altLang="zh-CN" sz="2000" b="1" dirty="0">
                    <a:latin typeface="Times New Roman" panose="02020603050405020304" pitchFamily="18" charset="0"/>
                    <a:cs typeface="Times New Roman" panose="02020603050405020304" pitchFamily="18" charset="0"/>
                  </a:rPr>
                  <a:t>S</a:t>
                </a:r>
                <a:r>
                  <a:rPr lang="en-US" sz="2000" b="1" dirty="0">
                    <a:latin typeface="Times New Roman" panose="02020603050405020304" pitchFamily="18" charset="0"/>
                    <a:cs typeface="Times New Roman" panose="02020603050405020304" pitchFamily="18" charset="0"/>
                  </a:rPr>
                  <a:t>hared </a:t>
                </a:r>
                <a:r>
                  <a:rPr lang="en-US" altLang="zh-CN" sz="2000" b="1" dirty="0">
                    <a:latin typeface="Times New Roman" panose="02020603050405020304" pitchFamily="18" charset="0"/>
                    <a:cs typeface="Times New Roman" panose="02020603050405020304" pitchFamily="18" charset="0"/>
                  </a:rPr>
                  <a:t>N</a:t>
                </a:r>
                <a:r>
                  <a:rPr lang="en-US" sz="2000" b="1" dirty="0">
                    <a:latin typeface="Times New Roman" panose="02020603050405020304" pitchFamily="18" charset="0"/>
                    <a:cs typeface="Times New Roman" panose="02020603050405020304" pitchFamily="18" charset="0"/>
                  </a:rPr>
                  <a:t>earest </a:t>
                </a:r>
                <a:r>
                  <a:rPr lang="en-US" altLang="zh-CN" sz="2000" b="1" dirty="0">
                    <a:latin typeface="Times New Roman" panose="02020603050405020304" pitchFamily="18" charset="0"/>
                    <a:cs typeface="Times New Roman" panose="02020603050405020304" pitchFamily="18" charset="0"/>
                  </a:rPr>
                  <a:t>N</a:t>
                </a:r>
                <a:r>
                  <a:rPr lang="en-US" sz="2000" b="1" dirty="0">
                    <a:latin typeface="Times New Roman" panose="02020603050405020304" pitchFamily="18" charset="0"/>
                    <a:cs typeface="Times New Roman" panose="02020603050405020304" pitchFamily="18" charset="0"/>
                  </a:rPr>
                  <a:t>eighbor</a:t>
                </a: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S</a:t>
                </a:r>
                <a:r>
                  <a:rPr lang="en-US" sz="2000" b="1" dirty="0">
                    <a:latin typeface="Times New Roman" panose="02020603050405020304" pitchFamily="18" charset="0"/>
                    <a:cs typeface="Times New Roman" panose="02020603050405020304" pitchFamily="18" charset="0"/>
                  </a:rPr>
                  <a:t>imilarit</a:t>
                </a:r>
                <a:r>
                  <a:rPr lang="en-US" altLang="zh-CN" sz="2000" b="1" dirty="0">
                    <a:latin typeface="Times New Roman" panose="02020603050405020304" pitchFamily="18" charset="0"/>
                    <a:cs typeface="Times New Roman" panose="02020603050405020304" pitchFamily="18" charset="0"/>
                  </a:rPr>
                  <a:t>y</a:t>
                </a:r>
                <a:endParaRPr lang="en-US" sz="2000" b="1" i="1" dirty="0">
                  <a:latin typeface="Cambria Math" panose="02040503050406030204" pitchFamily="18" charset="0"/>
                </a:endParaRPr>
              </a:p>
              <a:p>
                <a14:m>
                  <m:oMath xmlns:m="http://schemas.openxmlformats.org/officeDocument/2006/math">
                    <m:sSub>
                      <m:sSubPr>
                        <m:ctrlPr>
                          <a:rPr lang="en-KR" sz="2000" i="1" smtClean="0">
                            <a:latin typeface="Cambria Math" panose="02040503050406030204" pitchFamily="18" charset="0"/>
                          </a:rPr>
                        </m:ctrlPr>
                      </m:sSubPr>
                      <m:e>
                        <m:r>
                          <a:rPr lang="en-KR" sz="2000" i="1">
                            <a:latin typeface="Cambria Math" panose="02040503050406030204" pitchFamily="18" charset="0"/>
                          </a:rPr>
                          <m:t>𝑆𝑁𝑁</m:t>
                        </m:r>
                      </m:e>
                      <m:sub>
                        <m:r>
                          <a:rPr lang="en-KR" sz="2000" i="1">
                            <a:latin typeface="Cambria Math" panose="02040503050406030204" pitchFamily="18" charset="0"/>
                          </a:rPr>
                          <m:t>𝑛𝑜𝑟𝑚</m:t>
                        </m:r>
                      </m:sub>
                    </m:sSub>
                    <m:r>
                      <a:rPr lang="en-KR" sz="2000" i="1">
                        <a:latin typeface="Cambria Math" panose="02040503050406030204" pitchFamily="18" charset="0"/>
                      </a:rPr>
                      <m:t>(</m:t>
                    </m:r>
                    <m:r>
                      <a:rPr lang="en-KR" sz="2000" i="1">
                        <a:latin typeface="Cambria Math" panose="02040503050406030204" pitchFamily="18" charset="0"/>
                      </a:rPr>
                      <m:t>𝑖</m:t>
                    </m:r>
                    <m:r>
                      <a:rPr lang="en-KR" sz="2000" i="1">
                        <a:latin typeface="Cambria Math" panose="02040503050406030204" pitchFamily="18" charset="0"/>
                      </a:rPr>
                      <m:t>,</m:t>
                    </m:r>
                    <m:r>
                      <a:rPr lang="en-KR" sz="2000" i="1">
                        <a:latin typeface="Cambria Math" panose="02040503050406030204" pitchFamily="18" charset="0"/>
                      </a:rPr>
                      <m:t>𝑗</m:t>
                    </m:r>
                    <m:r>
                      <a:rPr lang="en-KR" sz="2000" i="1">
                        <a:latin typeface="Cambria Math" panose="02040503050406030204" pitchFamily="18" charset="0"/>
                      </a:rPr>
                      <m:t>)= </m:t>
                    </m:r>
                    <m:f>
                      <m:fPr>
                        <m:ctrlPr>
                          <a:rPr lang="en-KR" sz="2000" i="1" smtClean="0">
                            <a:latin typeface="Cambria Math" panose="02040503050406030204" pitchFamily="18" charset="0"/>
                          </a:rPr>
                        </m:ctrlPr>
                      </m:fPr>
                      <m:num>
                        <m:d>
                          <m:dPr>
                            <m:begChr m:val="|"/>
                            <m:endChr m:val="|"/>
                            <m:ctrlPr>
                              <a:rPr lang="en-KR" sz="2000" i="1">
                                <a:latin typeface="Cambria Math" panose="02040503050406030204" pitchFamily="18" charset="0"/>
                              </a:rPr>
                            </m:ctrlPr>
                          </m:dPr>
                          <m:e>
                            <m:sSub>
                              <m:sSubPr>
                                <m:ctrlPr>
                                  <a:rPr lang="en-KR" sz="2000" i="1">
                                    <a:latin typeface="Cambria Math" panose="02040503050406030204" pitchFamily="18" charset="0"/>
                                  </a:rPr>
                                </m:ctrlPr>
                              </m:sSubPr>
                              <m:e>
                                <m:r>
                                  <a:rPr lang="en-KR" sz="2000" i="1">
                                    <a:latin typeface="Cambria Math" panose="02040503050406030204" pitchFamily="18" charset="0"/>
                                  </a:rPr>
                                  <m:t>𝑁</m:t>
                                </m:r>
                              </m:e>
                              <m:sub>
                                <m:r>
                                  <a:rPr lang="en-KR" sz="2000" i="1">
                                    <a:latin typeface="Cambria Math" panose="02040503050406030204" pitchFamily="18" charset="0"/>
                                  </a:rPr>
                                  <m:t>𝑘</m:t>
                                </m:r>
                              </m:sub>
                            </m:sSub>
                            <m:r>
                              <a:rPr lang="en-KR" sz="2000" i="1">
                                <a:latin typeface="Cambria Math" panose="02040503050406030204" pitchFamily="18" charset="0"/>
                              </a:rPr>
                              <m:t>(</m:t>
                            </m:r>
                            <m:r>
                              <a:rPr lang="en-KR" sz="2000" i="1">
                                <a:latin typeface="Cambria Math" panose="02040503050406030204" pitchFamily="18" charset="0"/>
                              </a:rPr>
                              <m:t>𝑖</m:t>
                            </m:r>
                            <m:r>
                              <a:rPr lang="en-KR" sz="2000" i="1">
                                <a:latin typeface="Cambria Math" panose="02040503050406030204" pitchFamily="18" charset="0"/>
                              </a:rPr>
                              <m:t>)∩</m:t>
                            </m:r>
                            <m:sSub>
                              <m:sSubPr>
                                <m:ctrlPr>
                                  <a:rPr lang="en-KR" sz="2000" i="1">
                                    <a:latin typeface="Cambria Math" panose="02040503050406030204" pitchFamily="18" charset="0"/>
                                  </a:rPr>
                                </m:ctrlPr>
                              </m:sSubPr>
                              <m:e>
                                <m:r>
                                  <a:rPr lang="en-KR" sz="2000" i="1">
                                    <a:latin typeface="Cambria Math" panose="02040503050406030204" pitchFamily="18" charset="0"/>
                                  </a:rPr>
                                  <m:t>𝑁</m:t>
                                </m:r>
                              </m:e>
                              <m:sub>
                                <m:r>
                                  <a:rPr lang="en-KR" sz="2000" i="1">
                                    <a:latin typeface="Cambria Math" panose="02040503050406030204" pitchFamily="18" charset="0"/>
                                  </a:rPr>
                                  <m:t>𝑘</m:t>
                                </m:r>
                              </m:sub>
                            </m:sSub>
                            <m:r>
                              <a:rPr lang="en-KR" sz="2000" i="1">
                                <a:latin typeface="Cambria Math" panose="02040503050406030204" pitchFamily="18" charset="0"/>
                              </a:rPr>
                              <m:t>(</m:t>
                            </m:r>
                            <m:r>
                              <a:rPr lang="en-KR" sz="2000" i="1">
                                <a:latin typeface="Cambria Math" panose="02040503050406030204" pitchFamily="18" charset="0"/>
                              </a:rPr>
                              <m:t>𝑗</m:t>
                            </m:r>
                            <m:r>
                              <a:rPr lang="en-KR" sz="2000" i="1">
                                <a:latin typeface="Cambria Math" panose="02040503050406030204" pitchFamily="18" charset="0"/>
                              </a:rPr>
                              <m:t>)</m:t>
                            </m:r>
                          </m:e>
                        </m:d>
                      </m:num>
                      <m:den>
                        <m:r>
                          <a:rPr lang="en-KR" sz="2000" i="1">
                            <a:latin typeface="Cambria Math" panose="02040503050406030204" pitchFamily="18" charset="0"/>
                          </a:rPr>
                          <m:t>𝑘</m:t>
                        </m:r>
                      </m:den>
                    </m:f>
                    <m:r>
                      <a:rPr lang="en-KR" sz="2000" i="1">
                        <a:latin typeface="Cambria Math" panose="02040503050406030204" pitchFamily="18" charset="0"/>
                      </a:rPr>
                      <m:t>                        </m:t>
                    </m:r>
                    <m:r>
                      <a:rPr lang="zh-CN" altLang="en-US" sz="2000" b="0" i="1" smtClean="0">
                        <a:latin typeface="Cambria Math" panose="02040503050406030204" pitchFamily="18" charset="0"/>
                      </a:rPr>
                      <m:t>         </m:t>
                    </m:r>
                    <m:r>
                      <a:rPr lang="en-KR" sz="2000" i="1">
                        <a:latin typeface="Cambria Math" panose="02040503050406030204" pitchFamily="18" charset="0"/>
                      </a:rPr>
                      <m:t>     (1)</m:t>
                    </m:r>
                  </m:oMath>
                </a14:m>
                <a:endParaRPr lang="en-KR" sz="2000" dirty="0">
                  <a:latin typeface="Times New Roman" panose="02020603050405020304" pitchFamily="18" charset="0"/>
                  <a:cs typeface="Times New Roman" panose="02020603050405020304" pitchFamily="18" charset="0"/>
                </a:endParaRPr>
              </a:p>
              <a:p>
                <a14:m>
                  <m:oMath xmlns:m="http://schemas.openxmlformats.org/officeDocument/2006/math">
                    <m:r>
                      <a:rPr lang="en-KR" sz="2000" i="1">
                        <a:latin typeface="Cambria Math" panose="02040503050406030204" pitchFamily="18" charset="0"/>
                      </a:rPr>
                      <m:t>𝑤</m:t>
                    </m:r>
                    <m:d>
                      <m:dPr>
                        <m:ctrlPr>
                          <a:rPr lang="en-KR" sz="2000" i="1">
                            <a:latin typeface="Cambria Math" panose="02040503050406030204" pitchFamily="18" charset="0"/>
                          </a:rPr>
                        </m:ctrlPr>
                      </m:dPr>
                      <m:e>
                        <m:r>
                          <a:rPr lang="en-KR" sz="2000" i="1">
                            <a:latin typeface="Cambria Math" panose="02040503050406030204" pitchFamily="18" charset="0"/>
                          </a:rPr>
                          <m:t>𝑖</m:t>
                        </m:r>
                      </m:e>
                    </m:d>
                    <m:r>
                      <a:rPr lang="en-KR" sz="2000" i="1">
                        <a:latin typeface="Cambria Math" panose="02040503050406030204" pitchFamily="18" charset="0"/>
                      </a:rPr>
                      <m:t>=</m:t>
                    </m:r>
                    <m:f>
                      <m:fPr>
                        <m:ctrlPr>
                          <a:rPr lang="en-KR" sz="2000" i="1">
                            <a:latin typeface="Cambria Math" panose="02040503050406030204" pitchFamily="18" charset="0"/>
                          </a:rPr>
                        </m:ctrlPr>
                      </m:fPr>
                      <m:num>
                        <m:r>
                          <a:rPr lang="en-KR" sz="2000" i="1">
                            <a:latin typeface="Cambria Math" panose="02040503050406030204" pitchFamily="18" charset="0"/>
                          </a:rPr>
                          <m:t>1</m:t>
                        </m:r>
                      </m:num>
                      <m:den>
                        <m:r>
                          <a:rPr lang="en-KR" sz="2000" i="1">
                            <a:latin typeface="Cambria Math" panose="02040503050406030204" pitchFamily="18" charset="0"/>
                          </a:rPr>
                          <m:t>𝑘</m:t>
                        </m:r>
                      </m:den>
                    </m:f>
                    <m:nary>
                      <m:naryPr>
                        <m:chr m:val="∑"/>
                        <m:limLoc m:val="undOvr"/>
                        <m:ctrlPr>
                          <a:rPr lang="en-KR" sz="2000" i="1" smtClean="0">
                            <a:latin typeface="Cambria Math" panose="02040503050406030204" pitchFamily="18" charset="0"/>
                          </a:rPr>
                        </m:ctrlPr>
                      </m:naryPr>
                      <m:sub>
                        <m:r>
                          <a:rPr lang="en-KR" sz="2000" i="1">
                            <a:latin typeface="Cambria Math" panose="02040503050406030204" pitchFamily="18" charset="0"/>
                          </a:rPr>
                          <m:t>𝑗</m:t>
                        </m:r>
                        <m:r>
                          <a:rPr lang="en-KR" sz="2000" i="1">
                            <a:latin typeface="Cambria Math" panose="02040503050406030204" pitchFamily="18" charset="0"/>
                          </a:rPr>
                          <m:t> ∈</m:t>
                        </m:r>
                        <m:sSub>
                          <m:sSubPr>
                            <m:ctrlPr>
                              <a:rPr lang="en-KR" sz="2000" i="1">
                                <a:latin typeface="Cambria Math" panose="02040503050406030204" pitchFamily="18" charset="0"/>
                              </a:rPr>
                            </m:ctrlPr>
                          </m:sSubPr>
                          <m:e>
                            <m:r>
                              <a:rPr lang="en-KR" sz="2000" i="1">
                                <a:latin typeface="Cambria Math" panose="02040503050406030204" pitchFamily="18" charset="0"/>
                              </a:rPr>
                              <m:t> </m:t>
                            </m:r>
                            <m:r>
                              <a:rPr lang="en-KR" sz="2000" i="1">
                                <a:latin typeface="Cambria Math" panose="02040503050406030204" pitchFamily="18" charset="0"/>
                              </a:rPr>
                              <m:t>𝑁</m:t>
                            </m:r>
                          </m:e>
                          <m:sub>
                            <m:r>
                              <a:rPr lang="en-KR" sz="2000" i="1">
                                <a:latin typeface="Cambria Math" panose="02040503050406030204" pitchFamily="18" charset="0"/>
                              </a:rPr>
                              <m:t>𝑘</m:t>
                            </m:r>
                          </m:sub>
                        </m:sSub>
                        <m:r>
                          <a:rPr lang="en-KR" sz="2000" i="1">
                            <a:latin typeface="Cambria Math" panose="02040503050406030204" pitchFamily="18" charset="0"/>
                          </a:rPr>
                          <m:t>(</m:t>
                        </m:r>
                        <m:r>
                          <a:rPr lang="en-KR" sz="2000" i="1">
                            <a:latin typeface="Cambria Math" panose="02040503050406030204" pitchFamily="18" charset="0"/>
                          </a:rPr>
                          <m:t>𝑖</m:t>
                        </m:r>
                        <m:r>
                          <a:rPr lang="en-KR" sz="2000" i="1">
                            <a:latin typeface="Cambria Math" panose="02040503050406030204" pitchFamily="18" charset="0"/>
                          </a:rPr>
                          <m:t>)</m:t>
                        </m:r>
                      </m:sub>
                      <m:sup/>
                      <m:e>
                        <m:sSub>
                          <m:sSubPr>
                            <m:ctrlPr>
                              <a:rPr lang="en-KR" sz="2000" i="1">
                                <a:latin typeface="Cambria Math" panose="02040503050406030204" pitchFamily="18" charset="0"/>
                              </a:rPr>
                            </m:ctrlPr>
                          </m:sSubPr>
                          <m:e>
                            <m:r>
                              <a:rPr lang="en-KR" sz="2000" i="1">
                                <a:latin typeface="Cambria Math" panose="02040503050406030204" pitchFamily="18" charset="0"/>
                              </a:rPr>
                              <m:t>𝑆𝑁𝑁</m:t>
                            </m:r>
                          </m:e>
                          <m:sub>
                            <m:r>
                              <a:rPr lang="en-KR" sz="2000" i="1">
                                <a:latin typeface="Cambria Math" panose="02040503050406030204" pitchFamily="18" charset="0"/>
                              </a:rPr>
                              <m:t>𝑛𝑜𝑟𝑚</m:t>
                            </m:r>
                          </m:sub>
                        </m:sSub>
                        <m:r>
                          <a:rPr lang="en-KR" sz="2000" i="1">
                            <a:latin typeface="Cambria Math" panose="02040503050406030204" pitchFamily="18" charset="0"/>
                          </a:rPr>
                          <m:t>(</m:t>
                        </m:r>
                        <m:r>
                          <a:rPr lang="en-KR" sz="2000" i="1">
                            <a:latin typeface="Cambria Math" panose="02040503050406030204" pitchFamily="18" charset="0"/>
                          </a:rPr>
                          <m:t>𝑖</m:t>
                        </m:r>
                        <m:r>
                          <a:rPr lang="en-KR" sz="2000" i="1">
                            <a:latin typeface="Cambria Math" panose="02040503050406030204" pitchFamily="18" charset="0"/>
                          </a:rPr>
                          <m:t>,</m:t>
                        </m:r>
                        <m:r>
                          <a:rPr lang="en-KR" sz="2000" i="1">
                            <a:latin typeface="Cambria Math" panose="02040503050406030204" pitchFamily="18" charset="0"/>
                          </a:rPr>
                          <m:t>𝑗</m:t>
                        </m:r>
                        <m:r>
                          <a:rPr lang="en-KR" sz="2000" i="1">
                            <a:latin typeface="Cambria Math" panose="02040503050406030204" pitchFamily="18" charset="0"/>
                          </a:rPr>
                          <m:t>)</m:t>
                        </m:r>
                      </m:e>
                    </m:nary>
                    <m:r>
                      <a:rPr lang="en-KR" sz="2000" i="1">
                        <a:latin typeface="Cambria Math" panose="02040503050406030204" pitchFamily="18" charset="0"/>
                      </a:rPr>
                      <m:t>                               </m:t>
                    </m:r>
                    <m:d>
                      <m:dPr>
                        <m:ctrlPr>
                          <a:rPr lang="en-KR" sz="2000" i="1">
                            <a:latin typeface="Cambria Math" panose="02040503050406030204" pitchFamily="18" charset="0"/>
                          </a:rPr>
                        </m:ctrlPr>
                      </m:dPr>
                      <m:e>
                        <m:r>
                          <a:rPr lang="en-KR" sz="2000" i="1">
                            <a:latin typeface="Cambria Math" panose="02040503050406030204" pitchFamily="18" charset="0"/>
                          </a:rPr>
                          <m:t>2</m:t>
                        </m:r>
                      </m:e>
                    </m:d>
                  </m:oMath>
                </a14:m>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Explanation:</a:t>
                </a:r>
                <a:endParaRPr lang="en-US" sz="2000" dirty="0">
                  <a:latin typeface="Times New Roman" panose="02020603050405020304" pitchFamily="18" charset="0"/>
                  <a:cs typeface="Times New Roman" panose="02020603050405020304" pitchFamily="18" charset="0"/>
                </a:endParaRPr>
              </a:p>
              <a:p>
                <a:pPr lvl="1"/>
                <a14:m>
                  <m:oMath xmlns:m="http://schemas.openxmlformats.org/officeDocument/2006/math">
                    <m:r>
                      <a:rPr lang="en-US" sz="2000" i="1" dirty="0">
                        <a:latin typeface="Cambria Math" panose="02040503050406030204" pitchFamily="18" charset="0"/>
                      </a:rPr>
                      <m:t>𝑤</m:t>
                    </m:r>
                    <m:d>
                      <m:dPr>
                        <m:ctrlPr>
                          <a:rPr lang="en-US" sz="2000" i="1" dirty="0">
                            <a:latin typeface="Cambria Math" panose="02040503050406030204" pitchFamily="18" charset="0"/>
                          </a:rPr>
                        </m:ctrlPr>
                      </m:dPr>
                      <m:e>
                        <m:r>
                          <a:rPr lang="en-US" sz="2000" i="1" dirty="0" err="1">
                            <a:latin typeface="Cambria Math" panose="02040503050406030204" pitchFamily="18" charset="0"/>
                          </a:rPr>
                          <m:t>𝑖</m:t>
                        </m:r>
                      </m:e>
                    </m:d>
                    <m:r>
                      <a:rPr lang="en-US" altLang="zh-CN" sz="2000" i="1" dirty="0">
                        <a:latin typeface="Cambria Math" panose="02040503050406030204" pitchFamily="18" charset="0"/>
                      </a:rPr>
                      <m:t>:</m:t>
                    </m:r>
                  </m:oMath>
                </a14:m>
                <a:r>
                  <a:rPr lang="en-US" sz="2000" dirty="0">
                    <a:latin typeface="Times New Roman" panose="02020603050405020304" pitchFamily="18" charset="0"/>
                    <a:cs typeface="Times New Roman" panose="02020603050405020304" pitchFamily="18" charset="0"/>
                  </a:rPr>
                  <a:t> The weight assigned to </a:t>
                </a:r>
                <a:r>
                  <a:rPr lang="en-US" altLang="zh-CN" sz="2000" dirty="0">
                    <a:latin typeface="Times New Roman" panose="02020603050405020304" pitchFamily="18" charset="0"/>
                    <a:cs typeface="Times New Roman" panose="02020603050405020304" pitchFamily="18" charset="0"/>
                  </a:rPr>
                  <a:t>observation</a:t>
                </a:r>
                <a:r>
                  <a:rPr lang="en-US" sz="2000"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lvl="1"/>
                <a14:m>
                  <m:oMath xmlns:m="http://schemas.openxmlformats.org/officeDocument/2006/math">
                    <m:sSub>
                      <m:sSubPr>
                        <m:ctrlPr>
                          <a:rPr lang="en-KR" sz="2000" i="1" smtClean="0">
                            <a:latin typeface="Cambria Math" panose="02040503050406030204" pitchFamily="18" charset="0"/>
                          </a:rPr>
                        </m:ctrlPr>
                      </m:sSubPr>
                      <m:e>
                        <m:r>
                          <a:rPr lang="en-KR" sz="2000" i="1">
                            <a:latin typeface="Cambria Math" panose="02040503050406030204" pitchFamily="18" charset="0"/>
                          </a:rPr>
                          <m:t> </m:t>
                        </m:r>
                        <m:r>
                          <a:rPr lang="en-KR" sz="2000" i="1">
                            <a:latin typeface="Cambria Math" panose="02040503050406030204" pitchFamily="18" charset="0"/>
                          </a:rPr>
                          <m:t>𝑁</m:t>
                        </m:r>
                      </m:e>
                      <m:sub>
                        <m:r>
                          <a:rPr lang="en-KR" sz="2000" i="1">
                            <a:latin typeface="Cambria Math" panose="02040503050406030204" pitchFamily="18" charset="0"/>
                          </a:rPr>
                          <m:t>𝑘</m:t>
                        </m:r>
                      </m:sub>
                    </m:sSub>
                    <m:d>
                      <m:dPr>
                        <m:ctrlPr>
                          <a:rPr lang="en-KR" sz="2000" i="1">
                            <a:latin typeface="Cambria Math" panose="02040503050406030204" pitchFamily="18" charset="0"/>
                          </a:rPr>
                        </m:ctrlPr>
                      </m:dPr>
                      <m:e>
                        <m:r>
                          <a:rPr lang="en-KR" sz="2000" i="1">
                            <a:latin typeface="Cambria Math" panose="02040503050406030204" pitchFamily="18" charset="0"/>
                          </a:rPr>
                          <m:t>𝑖</m:t>
                        </m:r>
                        <m:r>
                          <a:rPr lang="en-KR" sz="2000" i="1">
                            <a:latin typeface="Cambria Math" panose="02040503050406030204" pitchFamily="18" charset="0"/>
                          </a:rPr>
                          <m:t> </m:t>
                        </m:r>
                      </m:e>
                    </m:d>
                  </m:oMath>
                </a14:m>
                <a:r>
                  <a:rPr lang="en-US" altLang="zh-CN"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k </a:t>
                </a:r>
                <a:r>
                  <a:rPr lang="en-US" sz="2000" dirty="0">
                    <a:latin typeface="Times New Roman" panose="02020603050405020304" pitchFamily="18" charset="0"/>
                    <a:cs typeface="Times New Roman" panose="02020603050405020304" pitchFamily="18" charset="0"/>
                  </a:rPr>
                  <a:t>nearest neighbors of</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observation</a:t>
                </a:r>
                <a:r>
                  <a:rPr lang="zh-CN" altLang="en-US" sz="2000"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formula computes the average local structural similarity between </a:t>
                </a:r>
                <a:r>
                  <a:rPr lang="en-US" altLang="zh-CN" sz="2000" dirty="0" err="1">
                    <a:latin typeface="Times New Roman" panose="02020603050405020304" pitchFamily="18" charset="0"/>
                    <a:cs typeface="Times New Roman" panose="02020603050405020304" pitchFamily="18" charset="0"/>
                  </a:rPr>
                  <a:t>obs</a:t>
                </a:r>
                <a:r>
                  <a:rPr lang="zh-CN" altLang="en-US" sz="2000"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i</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 its neighbors.</a:t>
                </a:r>
              </a:p>
              <a:p>
                <a:r>
                  <a:rPr lang="en-US" sz="2000" dirty="0">
                    <a:latin typeface="Times New Roman" panose="02020603050405020304" pitchFamily="18" charset="0"/>
                    <a:cs typeface="Times New Roman" panose="02020603050405020304" pitchFamily="18" charset="0"/>
                  </a:rPr>
                  <a:t>A higher value indicates that </a:t>
                </a:r>
                <a:r>
                  <a:rPr lang="en-US" altLang="zh-CN" sz="2000" dirty="0">
                    <a:latin typeface="Times New Roman" panose="02020603050405020304" pitchFamily="18" charset="0"/>
                    <a:cs typeface="Times New Roman" panose="02020603050405020304" pitchFamily="18" charset="0"/>
                  </a:rPr>
                  <a:t>observation</a:t>
                </a:r>
                <a:r>
                  <a:rPr lang="en-US" sz="2000"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resides in a more stable and consistent neighborhood, and thus should be assigned a higher weight.</a:t>
                </a:r>
                <a:endParaRPr lang="en-KR" sz="2000" dirty="0"/>
              </a:p>
            </p:txBody>
          </p:sp>
        </mc:Choice>
        <mc:Fallback xmlns="">
          <p:sp>
            <p:nvSpPr>
              <p:cNvPr id="3" name="Content Placeholder 2">
                <a:extLst>
                  <a:ext uri="{FF2B5EF4-FFF2-40B4-BE49-F238E27FC236}">
                    <a16:creationId xmlns:a16="http://schemas.microsoft.com/office/drawing/2014/main" id="{699DCEDE-4497-DA74-D140-08CDA45CEC21}"/>
                  </a:ext>
                </a:extLst>
              </p:cNvPr>
              <p:cNvSpPr>
                <a:spLocks noGrp="1" noRot="1" noChangeAspect="1" noMove="1" noResize="1" noEditPoints="1" noAdjustHandles="1" noChangeArrowheads="1" noChangeShapeType="1" noTextEdit="1"/>
              </p:cNvSpPr>
              <p:nvPr>
                <p:ph idx="1"/>
              </p:nvPr>
            </p:nvSpPr>
            <p:spPr>
              <a:xfrm>
                <a:off x="838200" y="1825625"/>
                <a:ext cx="10922876" cy="4667250"/>
              </a:xfrm>
              <a:blipFill>
                <a:blip r:embed="rId2"/>
                <a:stretch>
                  <a:fillRect l="-698" t="-1355"/>
                </a:stretch>
              </a:blipFill>
            </p:spPr>
            <p:txBody>
              <a:bodyPr/>
              <a:lstStyle/>
              <a:p>
                <a:r>
                  <a:rPr lang="en-KR">
                    <a:noFill/>
                  </a:rPr>
                  <a:t> </a:t>
                </a:r>
              </a:p>
            </p:txBody>
          </p:sp>
        </mc:Fallback>
      </mc:AlternateContent>
    </p:spTree>
    <p:extLst>
      <p:ext uri="{BB962C8B-B14F-4D97-AF65-F5344CB8AC3E}">
        <p14:creationId xmlns:p14="http://schemas.microsoft.com/office/powerpoint/2010/main" val="3592108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8AEAA-ED6F-7911-DFDB-9A0BFE1C7D5C}"/>
              </a:ext>
            </a:extLst>
          </p:cNvPr>
          <p:cNvSpPr>
            <a:spLocks noGrp="1"/>
          </p:cNvSpPr>
          <p:nvPr>
            <p:ph type="title"/>
          </p:nvPr>
        </p:nvSpPr>
        <p:spPr/>
        <p:txBody>
          <a:bodyPr>
            <a:normAutofit/>
          </a:bodyPr>
          <a:lstStyle/>
          <a:p>
            <a:r>
              <a:rPr lang="en-US" altLang="zh-CN" sz="3600" dirty="0">
                <a:latin typeface="Times New Roman" panose="02020603050405020304" pitchFamily="18" charset="0"/>
                <a:cs typeface="Times New Roman" panose="02020603050405020304" pitchFamily="18" charset="0"/>
              </a:rPr>
              <a:t>Consistency-adjusted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SNN</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weighting</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strategy</a:t>
            </a:r>
            <a:endParaRPr lang="en-KR"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00CF02-A6CE-6F46-C3A8-4B439165DED7}"/>
                  </a:ext>
                </a:extLst>
              </p:cNvPr>
              <p:cNvSpPr>
                <a:spLocks noGrp="1"/>
              </p:cNvSpPr>
              <p:nvPr>
                <p:ph idx="1"/>
              </p:nvPr>
            </p:nvSpPr>
            <p:spPr>
              <a:xfrm>
                <a:off x="838199" y="1825624"/>
                <a:ext cx="10858501" cy="3743903"/>
              </a:xfrm>
            </p:spPr>
            <p:txBody>
              <a:bodyPr>
                <a:normAutofit lnSpcReduction="10000"/>
              </a:bodyPr>
              <a:lstStyle/>
              <a:p>
                <a14:m>
                  <m:oMath xmlns:m="http://schemas.openxmlformats.org/officeDocument/2006/math">
                    <m:sSub>
                      <m:sSubPr>
                        <m:ctrlPr>
                          <a:rPr lang="en-KR" sz="2400" i="1" smtClean="0">
                            <a:latin typeface="Cambria Math" panose="02040503050406030204" pitchFamily="18" charset="0"/>
                          </a:rPr>
                        </m:ctrlPr>
                      </m:sSubPr>
                      <m:e>
                        <m:r>
                          <a:rPr lang="en-KR" sz="2400" i="1">
                            <a:latin typeface="Cambria Math" panose="02040503050406030204" pitchFamily="18" charset="0"/>
                          </a:rPr>
                          <m:t>𝑤</m:t>
                        </m:r>
                      </m:e>
                      <m:sub>
                        <m:r>
                          <a:rPr lang="en-KR" sz="2400" i="1">
                            <a:latin typeface="Cambria Math" panose="02040503050406030204" pitchFamily="18" charset="0"/>
                          </a:rPr>
                          <m:t>𝑐𝑜𝑛𝑠𝑖𝑠𝑡𝑒𝑛𝑐𝑦</m:t>
                        </m:r>
                      </m:sub>
                    </m:sSub>
                    <m:d>
                      <m:dPr>
                        <m:ctrlPr>
                          <a:rPr lang="en-KR" sz="2400" i="1">
                            <a:latin typeface="Cambria Math" panose="02040503050406030204" pitchFamily="18" charset="0"/>
                          </a:rPr>
                        </m:ctrlPr>
                      </m:dPr>
                      <m:e>
                        <m:r>
                          <a:rPr lang="en-KR" sz="2400" i="1">
                            <a:latin typeface="Cambria Math" panose="02040503050406030204" pitchFamily="18" charset="0"/>
                          </a:rPr>
                          <m:t>𝑖</m:t>
                        </m:r>
                      </m:e>
                    </m:d>
                    <m:r>
                      <a:rPr lang="en-KR" sz="2400" i="1">
                        <a:latin typeface="Cambria Math" panose="02040503050406030204" pitchFamily="18" charset="0"/>
                      </a:rPr>
                      <m:t>=</m:t>
                    </m:r>
                    <m:r>
                      <a:rPr lang="en-KR" sz="2400" i="1">
                        <a:latin typeface="Cambria Math" panose="02040503050406030204" pitchFamily="18" charset="0"/>
                      </a:rPr>
                      <m:t>𝑤</m:t>
                    </m:r>
                    <m:d>
                      <m:dPr>
                        <m:ctrlPr>
                          <a:rPr lang="en-KR" sz="2400" i="1">
                            <a:latin typeface="Cambria Math" panose="02040503050406030204" pitchFamily="18" charset="0"/>
                          </a:rPr>
                        </m:ctrlPr>
                      </m:dPr>
                      <m:e>
                        <m:r>
                          <a:rPr lang="en-KR" sz="2400" i="1">
                            <a:latin typeface="Cambria Math" panose="02040503050406030204" pitchFamily="18" charset="0"/>
                          </a:rPr>
                          <m:t>𝑖</m:t>
                        </m:r>
                      </m:e>
                    </m:d>
                    <m:r>
                      <a:rPr lang="en-KR" sz="2400" i="1">
                        <a:latin typeface="Cambria Math" panose="02040503050406030204" pitchFamily="18" charset="0"/>
                      </a:rPr>
                      <m:t>−</m:t>
                    </m:r>
                    <m:r>
                      <a:rPr lang="en-KR" sz="2400" i="1">
                        <a:latin typeface="Cambria Math" panose="02040503050406030204" pitchFamily="18" charset="0"/>
                      </a:rPr>
                      <m:t>𝛽</m:t>
                    </m:r>
                    <m:d>
                      <m:dPr>
                        <m:ctrlPr>
                          <a:rPr lang="en-KR" sz="2400" i="1">
                            <a:latin typeface="Cambria Math" panose="02040503050406030204" pitchFamily="18" charset="0"/>
                          </a:rPr>
                        </m:ctrlPr>
                      </m:dPr>
                      <m:e>
                        <m:r>
                          <a:rPr lang="en-KR" sz="2400" i="1">
                            <a:latin typeface="Cambria Math" panose="02040503050406030204" pitchFamily="18" charset="0"/>
                          </a:rPr>
                          <m:t>1 −</m:t>
                        </m:r>
                        <m:f>
                          <m:fPr>
                            <m:ctrlPr>
                              <a:rPr lang="en-KR" sz="2400" i="1">
                                <a:latin typeface="Cambria Math" panose="02040503050406030204" pitchFamily="18" charset="0"/>
                              </a:rPr>
                            </m:ctrlPr>
                          </m:fPr>
                          <m:num>
                            <m:r>
                              <a:rPr lang="en-KR" sz="2400" i="1">
                                <a:latin typeface="Cambria Math" panose="02040503050406030204" pitchFamily="18" charset="0"/>
                              </a:rPr>
                              <m:t>1</m:t>
                            </m:r>
                          </m:num>
                          <m:den>
                            <m:d>
                              <m:dPr>
                                <m:begChr m:val="|"/>
                                <m:endChr m:val="|"/>
                                <m:ctrlPr>
                                  <a:rPr lang="en-KR" sz="2400" i="1">
                                    <a:latin typeface="Cambria Math" panose="02040503050406030204" pitchFamily="18" charset="0"/>
                                  </a:rPr>
                                </m:ctrlPr>
                              </m:dPr>
                              <m:e>
                                <m:sSub>
                                  <m:sSubPr>
                                    <m:ctrlPr>
                                      <a:rPr lang="en-KR" sz="2400" i="1">
                                        <a:latin typeface="Cambria Math" panose="02040503050406030204" pitchFamily="18" charset="0"/>
                                      </a:rPr>
                                    </m:ctrlPr>
                                  </m:sSubPr>
                                  <m:e>
                                    <m:r>
                                      <a:rPr lang="en-KR" sz="2400" i="1">
                                        <a:latin typeface="Cambria Math" panose="02040503050406030204" pitchFamily="18" charset="0"/>
                                      </a:rPr>
                                      <m:t>𝑁</m:t>
                                    </m:r>
                                  </m:e>
                                  <m:sub>
                                    <m:r>
                                      <a:rPr lang="en-KR" sz="2400" i="1">
                                        <a:latin typeface="Cambria Math" panose="02040503050406030204" pitchFamily="18" charset="0"/>
                                      </a:rPr>
                                      <m:t>𝐼𝐷</m:t>
                                    </m:r>
                                  </m:sub>
                                </m:sSub>
                                <m:d>
                                  <m:dPr>
                                    <m:ctrlPr>
                                      <a:rPr lang="en-KR" sz="2400" i="1">
                                        <a:latin typeface="Cambria Math" panose="02040503050406030204" pitchFamily="18" charset="0"/>
                                      </a:rPr>
                                    </m:ctrlPr>
                                  </m:dPr>
                                  <m:e>
                                    <m:r>
                                      <a:rPr lang="en-KR" sz="2400" i="1">
                                        <a:latin typeface="Cambria Math" panose="02040503050406030204" pitchFamily="18" charset="0"/>
                                      </a:rPr>
                                      <m:t>𝑖</m:t>
                                    </m:r>
                                  </m:e>
                                </m:d>
                              </m:e>
                            </m:d>
                          </m:den>
                        </m:f>
                        <m:nary>
                          <m:naryPr>
                            <m:chr m:val="∑"/>
                            <m:limLoc m:val="undOvr"/>
                            <m:ctrlPr>
                              <a:rPr lang="en-KR" sz="2400" i="1" smtClean="0">
                                <a:latin typeface="Cambria Math" panose="02040503050406030204" pitchFamily="18" charset="0"/>
                              </a:rPr>
                            </m:ctrlPr>
                          </m:naryPr>
                          <m:sub>
                            <m:r>
                              <a:rPr lang="en-KR" sz="2400" i="1">
                                <a:latin typeface="Cambria Math" panose="02040503050406030204" pitchFamily="18" charset="0"/>
                              </a:rPr>
                              <m:t>𝑗</m:t>
                            </m:r>
                            <m:r>
                              <a:rPr lang="en-KR" sz="2400" i="1">
                                <a:latin typeface="Cambria Math" panose="02040503050406030204" pitchFamily="18" charset="0"/>
                              </a:rPr>
                              <m:t>𝜖</m:t>
                            </m:r>
                            <m:sSub>
                              <m:sSubPr>
                                <m:ctrlPr>
                                  <a:rPr lang="en-KR" sz="2400" i="1">
                                    <a:latin typeface="Cambria Math" panose="02040503050406030204" pitchFamily="18" charset="0"/>
                                  </a:rPr>
                                </m:ctrlPr>
                              </m:sSubPr>
                              <m:e>
                                <m:r>
                                  <a:rPr lang="en-KR" sz="2400" i="1">
                                    <a:latin typeface="Cambria Math" panose="02040503050406030204" pitchFamily="18" charset="0"/>
                                  </a:rPr>
                                  <m:t>𝑁</m:t>
                                </m:r>
                              </m:e>
                              <m:sub>
                                <m:r>
                                  <a:rPr lang="en-KR" sz="2400" i="1">
                                    <a:latin typeface="Cambria Math" panose="02040503050406030204" pitchFamily="18" charset="0"/>
                                  </a:rPr>
                                  <m:t>𝐼𝐷</m:t>
                                </m:r>
                              </m:sub>
                            </m:sSub>
                            <m:d>
                              <m:dPr>
                                <m:ctrlPr>
                                  <a:rPr lang="en-KR" sz="2400" i="1">
                                    <a:latin typeface="Cambria Math" panose="02040503050406030204" pitchFamily="18" charset="0"/>
                                  </a:rPr>
                                </m:ctrlPr>
                              </m:dPr>
                              <m:e>
                                <m:r>
                                  <a:rPr lang="en-KR" sz="2400" i="1">
                                    <a:latin typeface="Cambria Math" panose="02040503050406030204" pitchFamily="18" charset="0"/>
                                  </a:rPr>
                                  <m:t>𝑖</m:t>
                                </m:r>
                              </m:e>
                            </m:d>
                          </m:sub>
                          <m:sup/>
                          <m:e>
                            <m:f>
                              <m:fPr>
                                <m:ctrlPr>
                                  <a:rPr lang="en-KR" sz="2400" i="1">
                                    <a:latin typeface="Cambria Math" panose="02040503050406030204" pitchFamily="18" charset="0"/>
                                  </a:rPr>
                                </m:ctrlPr>
                              </m:fPr>
                              <m:num>
                                <m:d>
                                  <m:dPr>
                                    <m:begChr m:val="|"/>
                                    <m:endChr m:val="|"/>
                                    <m:ctrlPr>
                                      <a:rPr lang="en-KR" sz="2400" i="1">
                                        <a:latin typeface="Cambria Math" panose="02040503050406030204" pitchFamily="18" charset="0"/>
                                      </a:rPr>
                                    </m:ctrlPr>
                                  </m:dPr>
                                  <m:e>
                                    <m:sSub>
                                      <m:sSubPr>
                                        <m:ctrlPr>
                                          <a:rPr lang="en-KR" sz="2400" i="1">
                                            <a:latin typeface="Cambria Math" panose="02040503050406030204" pitchFamily="18" charset="0"/>
                                          </a:rPr>
                                        </m:ctrlPr>
                                      </m:sSubPr>
                                      <m:e>
                                        <m:r>
                                          <a:rPr lang="en-KR" sz="2400" i="1">
                                            <a:latin typeface="Cambria Math" panose="02040503050406030204" pitchFamily="18" charset="0"/>
                                          </a:rPr>
                                          <m:t>𝑁</m:t>
                                        </m:r>
                                      </m:e>
                                      <m:sub>
                                        <m:r>
                                          <a:rPr lang="en-KR" sz="2400" i="1">
                                            <a:latin typeface="Cambria Math" panose="02040503050406030204" pitchFamily="18" charset="0"/>
                                          </a:rPr>
                                          <m:t>𝑘</m:t>
                                        </m:r>
                                      </m:sub>
                                    </m:sSub>
                                    <m:d>
                                      <m:dPr>
                                        <m:ctrlPr>
                                          <a:rPr lang="en-KR" sz="2400" i="1">
                                            <a:latin typeface="Cambria Math" panose="02040503050406030204" pitchFamily="18" charset="0"/>
                                          </a:rPr>
                                        </m:ctrlPr>
                                      </m:dPr>
                                      <m:e>
                                        <m:r>
                                          <a:rPr lang="en-KR" sz="2400" i="1">
                                            <a:latin typeface="Cambria Math" panose="02040503050406030204" pitchFamily="18" charset="0"/>
                                          </a:rPr>
                                          <m:t>𝑖</m:t>
                                        </m:r>
                                      </m:e>
                                    </m:d>
                                    <m:r>
                                      <a:rPr lang="en-KR" sz="2400" i="1">
                                        <a:latin typeface="Cambria Math" panose="02040503050406030204" pitchFamily="18" charset="0"/>
                                      </a:rPr>
                                      <m:t>∩</m:t>
                                    </m:r>
                                    <m:sSub>
                                      <m:sSubPr>
                                        <m:ctrlPr>
                                          <a:rPr lang="en-KR" sz="2400" i="1">
                                            <a:latin typeface="Cambria Math" panose="02040503050406030204" pitchFamily="18" charset="0"/>
                                          </a:rPr>
                                        </m:ctrlPr>
                                      </m:sSubPr>
                                      <m:e>
                                        <m:r>
                                          <a:rPr lang="en-KR" sz="2400" i="1">
                                            <a:latin typeface="Cambria Math" panose="02040503050406030204" pitchFamily="18" charset="0"/>
                                          </a:rPr>
                                          <m:t>𝑁</m:t>
                                        </m:r>
                                      </m:e>
                                      <m:sub>
                                        <m:r>
                                          <a:rPr lang="en-KR" sz="2400" i="1">
                                            <a:latin typeface="Cambria Math" panose="02040503050406030204" pitchFamily="18" charset="0"/>
                                          </a:rPr>
                                          <m:t>𝑘</m:t>
                                        </m:r>
                                      </m:sub>
                                    </m:sSub>
                                    <m:d>
                                      <m:dPr>
                                        <m:ctrlPr>
                                          <a:rPr lang="en-KR" sz="2400" i="1">
                                            <a:latin typeface="Cambria Math" panose="02040503050406030204" pitchFamily="18" charset="0"/>
                                          </a:rPr>
                                        </m:ctrlPr>
                                      </m:dPr>
                                      <m:e>
                                        <m:r>
                                          <a:rPr lang="en-KR" sz="2400" i="1">
                                            <a:latin typeface="Cambria Math" panose="02040503050406030204" pitchFamily="18" charset="0"/>
                                          </a:rPr>
                                          <m:t>𝑗</m:t>
                                        </m:r>
                                      </m:e>
                                    </m:d>
                                  </m:e>
                                </m:d>
                              </m:num>
                              <m:den>
                                <m:r>
                                  <a:rPr lang="en-KR" sz="2400" i="1">
                                    <a:latin typeface="Cambria Math" panose="02040503050406030204" pitchFamily="18" charset="0"/>
                                  </a:rPr>
                                  <m:t>𝑘</m:t>
                                </m:r>
                              </m:den>
                            </m:f>
                          </m:e>
                        </m:nary>
                      </m:e>
                    </m:d>
                    <m:r>
                      <a:rPr lang="en-KR" sz="2400" i="1">
                        <a:latin typeface="Cambria Math" panose="02040503050406030204" pitchFamily="18" charset="0"/>
                      </a:rPr>
                      <m:t>              </m:t>
                    </m:r>
                    <m:r>
                      <a:rPr lang="zh-CN" altLang="en-US" sz="2400" b="0" i="1" smtClean="0">
                        <a:latin typeface="Cambria Math" panose="02040503050406030204" pitchFamily="18" charset="0"/>
                      </a:rPr>
                      <m:t>          </m:t>
                    </m:r>
                    <m:r>
                      <a:rPr lang="en-KR" sz="2400" i="1">
                        <a:latin typeface="Cambria Math" panose="02040503050406030204" pitchFamily="18" charset="0"/>
                      </a:rPr>
                      <m:t> </m:t>
                    </m:r>
                    <m:d>
                      <m:dPr>
                        <m:ctrlPr>
                          <a:rPr lang="en-KR" sz="2400" i="1">
                            <a:latin typeface="Cambria Math" panose="02040503050406030204" pitchFamily="18" charset="0"/>
                          </a:rPr>
                        </m:ctrlPr>
                      </m:dPr>
                      <m:e>
                        <m:r>
                          <a:rPr lang="en-KR" sz="2400" i="1">
                            <a:latin typeface="Cambria Math" panose="02040503050406030204" pitchFamily="18" charset="0"/>
                          </a:rPr>
                          <m:t>5</m:t>
                        </m:r>
                      </m:e>
                    </m:d>
                  </m:oMath>
                </a14:m>
                <a:endParaRPr lang="en-US" sz="2000" i="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Explanation:</a:t>
                </a:r>
                <a:endParaRPr lang="en-US" sz="2000" i="1" dirty="0">
                  <a:latin typeface="Times New Roman" panose="02020603050405020304" pitchFamily="18" charset="0"/>
                  <a:cs typeface="Times New Roman" panose="02020603050405020304" pitchFamily="18" charset="0"/>
                </a:endParaRPr>
              </a:p>
              <a:p>
                <a:pPr lvl="1"/>
                <a14:m>
                  <m:oMath xmlns:m="http://schemas.openxmlformats.org/officeDocument/2006/math">
                    <m:r>
                      <a:rPr lang="en-KR" sz="2000" i="1">
                        <a:latin typeface="Cambria Math" panose="02040503050406030204" pitchFamily="18" charset="0"/>
                      </a:rPr>
                      <m:t>𝑤</m:t>
                    </m:r>
                    <m:d>
                      <m:dPr>
                        <m:ctrlPr>
                          <a:rPr lang="en-KR" sz="2000" i="1">
                            <a:latin typeface="Cambria Math" panose="02040503050406030204" pitchFamily="18" charset="0"/>
                          </a:rPr>
                        </m:ctrlPr>
                      </m:dPr>
                      <m:e>
                        <m:r>
                          <a:rPr lang="en-KR" sz="2000" i="1">
                            <a:latin typeface="Cambria Math" panose="02040503050406030204" pitchFamily="18" charset="0"/>
                          </a:rPr>
                          <m:t>𝑖</m:t>
                        </m:r>
                      </m:e>
                    </m:d>
                    <m:r>
                      <a:rPr lang="en-KR" sz="2000" i="1">
                        <a:latin typeface="Cambria Math" panose="02040503050406030204" pitchFamily="18" charset="0"/>
                      </a:rPr>
                      <m:t> </m:t>
                    </m:r>
                    <m:r>
                      <a:rPr lang="en-US" altLang="zh-CN" sz="2000" b="0" i="0" smtClean="0">
                        <a:latin typeface="Cambria Math" panose="02040503050406030204" pitchFamily="18" charset="0"/>
                      </a:rPr>
                      <m:t>:</m:t>
                    </m:r>
                    <m:r>
                      <a:rPr lang="zh-CN" altLang="en-US" sz="2000" b="0" i="0" smtClean="0">
                        <a:latin typeface="Cambria Math" panose="02040503050406030204" pitchFamily="18" charset="0"/>
                      </a:rPr>
                      <m:t> </m:t>
                    </m:r>
                  </m:oMath>
                </a14:m>
                <a:r>
                  <a:rPr lang="en-US" sz="2000" dirty="0">
                    <a:latin typeface="Times New Roman" panose="02020603050405020304" pitchFamily="18" charset="0"/>
                    <a:cs typeface="Times New Roman" panose="02020603050405020304" pitchFamily="18" charset="0"/>
                  </a:rPr>
                  <a:t>Original SNN-based weight for observation </a:t>
                </a:r>
                <a:r>
                  <a:rPr lang="en-US" sz="2000" i="1"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lvl="1"/>
                <a14:m>
                  <m:oMath xmlns:m="http://schemas.openxmlformats.org/officeDocument/2006/math">
                    <m:r>
                      <a:rPr lang="en-KR" sz="2000" i="1">
                        <a:latin typeface="Cambria Math" panose="02040503050406030204" pitchFamily="18" charset="0"/>
                      </a:rPr>
                      <m:t>𝛽</m:t>
                    </m:r>
                    <m:r>
                      <a:rPr lang="en-KR" sz="2000" i="1">
                        <a:latin typeface="Cambria Math" panose="02040503050406030204" pitchFamily="18" charset="0"/>
                      </a:rPr>
                      <m:t> </m:t>
                    </m:r>
                  </m:oMath>
                </a14:m>
                <a:r>
                  <a:rPr lang="en-US" sz="2000" dirty="0">
                    <a:latin typeface="Times New Roman" panose="02020603050405020304" pitchFamily="18" charset="0"/>
                    <a:cs typeface="Times New Roman" panose="02020603050405020304" pitchFamily="18" charset="0"/>
                  </a:rPr>
                  <a:t>: A tuning parameter controlling how much penalty is applied for inconsistency.</a:t>
                </a:r>
              </a:p>
              <a:p>
                <a:pPr lvl="1"/>
                <a14:m>
                  <m:oMath xmlns:m="http://schemas.openxmlformats.org/officeDocument/2006/math">
                    <m:sSub>
                      <m:sSubPr>
                        <m:ctrlPr>
                          <a:rPr lang="en-KR" sz="2000" i="1">
                            <a:latin typeface="Cambria Math" panose="02040503050406030204" pitchFamily="18" charset="0"/>
                          </a:rPr>
                        </m:ctrlPr>
                      </m:sSubPr>
                      <m:e>
                        <m:r>
                          <a:rPr lang="en-KR" sz="2000" i="1">
                            <a:latin typeface="Cambria Math" panose="02040503050406030204" pitchFamily="18" charset="0"/>
                          </a:rPr>
                          <m:t>𝑁</m:t>
                        </m:r>
                      </m:e>
                      <m:sub>
                        <m:r>
                          <a:rPr lang="en-KR" sz="2000" i="1">
                            <a:latin typeface="Cambria Math" panose="02040503050406030204" pitchFamily="18" charset="0"/>
                          </a:rPr>
                          <m:t>𝐼𝐷</m:t>
                        </m:r>
                      </m:sub>
                    </m:sSub>
                    <m:d>
                      <m:dPr>
                        <m:ctrlPr>
                          <a:rPr lang="en-KR" sz="2000" i="1">
                            <a:latin typeface="Cambria Math" panose="02040503050406030204" pitchFamily="18" charset="0"/>
                          </a:rPr>
                        </m:ctrlPr>
                      </m:dPr>
                      <m:e>
                        <m:r>
                          <a:rPr lang="en-KR" sz="2000" i="1">
                            <a:latin typeface="Cambria Math" panose="02040503050406030204" pitchFamily="18" charset="0"/>
                          </a:rPr>
                          <m:t>𝑖</m:t>
                        </m:r>
                      </m:e>
                    </m:d>
                    <m:r>
                      <a:rPr lang="en-US" altLang="zh-CN" sz="2000" b="0" i="1" smtClean="0">
                        <a:latin typeface="Cambria Math" panose="02040503050406030204" pitchFamily="18" charset="0"/>
                      </a:rPr>
                      <m:t>:</m:t>
                    </m:r>
                  </m:oMath>
                </a14:m>
                <a:r>
                  <a:rPr lang="en-US" sz="2000" dirty="0">
                    <a:latin typeface="Times New Roman" panose="02020603050405020304" pitchFamily="18" charset="0"/>
                    <a:cs typeface="Times New Roman" panose="02020603050405020304" pitchFamily="18" charset="0"/>
                  </a:rPr>
                  <a:t>The set of other observations from the same subject as </a:t>
                </a:r>
                <a:r>
                  <a:rPr lang="en-US" sz="2000" i="1"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marL="0" indent="0">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term computes the average similarity between observation </a:t>
                </a:r>
                <a:r>
                  <a:rPr lang="en-US" sz="2000" i="1"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and other observations from the same subject.</a:t>
                </a:r>
              </a:p>
            </p:txBody>
          </p:sp>
        </mc:Choice>
        <mc:Fallback xmlns="">
          <p:sp>
            <p:nvSpPr>
              <p:cNvPr id="3" name="Content Placeholder 2">
                <a:extLst>
                  <a:ext uri="{FF2B5EF4-FFF2-40B4-BE49-F238E27FC236}">
                    <a16:creationId xmlns:a16="http://schemas.microsoft.com/office/drawing/2014/main" id="{2100CF02-A6CE-6F46-C3A8-4B439165DED7}"/>
                  </a:ext>
                </a:extLst>
              </p:cNvPr>
              <p:cNvSpPr>
                <a:spLocks noGrp="1" noRot="1" noChangeAspect="1" noMove="1" noResize="1" noEditPoints="1" noAdjustHandles="1" noChangeArrowheads="1" noChangeShapeType="1" noTextEdit="1"/>
              </p:cNvSpPr>
              <p:nvPr>
                <p:ph idx="1"/>
              </p:nvPr>
            </p:nvSpPr>
            <p:spPr>
              <a:xfrm>
                <a:off x="838199" y="1825624"/>
                <a:ext cx="10858501" cy="3743903"/>
              </a:xfrm>
              <a:blipFill>
                <a:blip r:embed="rId2"/>
                <a:stretch>
                  <a:fillRect l="-700" t="-14189"/>
                </a:stretch>
              </a:blipFill>
            </p:spPr>
            <p:txBody>
              <a:bodyPr/>
              <a:lstStyle/>
              <a:p>
                <a:r>
                  <a:rPr lang="en-KR">
                    <a:noFill/>
                  </a:rPr>
                  <a:t> </a:t>
                </a:r>
              </a:p>
            </p:txBody>
          </p:sp>
        </mc:Fallback>
      </mc:AlternateContent>
    </p:spTree>
    <p:extLst>
      <p:ext uri="{BB962C8B-B14F-4D97-AF65-F5344CB8AC3E}">
        <p14:creationId xmlns:p14="http://schemas.microsoft.com/office/powerpoint/2010/main" val="1589694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6C1FF-20BE-E844-37DE-A4A3F6DBA6C9}"/>
              </a:ext>
            </a:extLst>
          </p:cNvPr>
          <p:cNvSpPr>
            <a:spLocks noGrp="1"/>
          </p:cNvSpPr>
          <p:nvPr>
            <p:ph type="title"/>
          </p:nvPr>
        </p:nvSpPr>
        <p:spPr/>
        <p:txBody>
          <a:bodyPr>
            <a:normAutofit/>
          </a:bodyPr>
          <a:lstStyle/>
          <a:p>
            <a:r>
              <a:rPr lang="en-US" altLang="zh-CN" sz="4000" dirty="0">
                <a:latin typeface="Times New Roman" panose="02020603050405020304" pitchFamily="18" charset="0"/>
                <a:cs typeface="Times New Roman" panose="02020603050405020304" pitchFamily="18" charset="0"/>
              </a:rPr>
              <a:t>Evaluation</a:t>
            </a:r>
            <a:r>
              <a:rPr lang="zh-CN" altLang="en-US" sz="40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for Weighting Strategies</a:t>
            </a:r>
            <a:endParaRPr lang="en-KR"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94394D-330B-B7C8-1EAF-BED01ED0D067}"/>
              </a:ext>
            </a:extLst>
          </p:cNvPr>
          <p:cNvSpPr>
            <a:spLocks noGrp="1"/>
          </p:cNvSpPr>
          <p:nvPr>
            <p:ph idx="1"/>
          </p:nvPr>
        </p:nvSpPr>
        <p:spPr>
          <a:xfrm>
            <a:off x="838200" y="1825624"/>
            <a:ext cx="10515600" cy="5032375"/>
          </a:xfrm>
        </p:spPr>
        <p:txBody>
          <a:bodyPr>
            <a:normAutofit/>
          </a:bodyPr>
          <a:lstStyle/>
          <a:p>
            <a:r>
              <a:rPr lang="en-US" sz="2000" b="1" dirty="0">
                <a:latin typeface="Times New Roman" panose="02020603050405020304" pitchFamily="18" charset="0"/>
                <a:cs typeface="Times New Roman" panose="02020603050405020304" pitchFamily="18" charset="0"/>
              </a:rPr>
              <a:t>Training/Test Set Division</a:t>
            </a:r>
            <a:r>
              <a:rPr lang="zh-CN" altLang="en-US"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en-KR" sz="2000" dirty="0">
                <a:latin typeface="Times New Roman" panose="02020603050405020304" pitchFamily="18" charset="0"/>
                <a:cs typeface="Times New Roman" panose="02020603050405020304" pitchFamily="18" charset="0"/>
              </a:rPr>
              <a:t>subject-level splitting</a:t>
            </a:r>
            <a:r>
              <a:rPr lang="en-US" altLang="zh-CN" sz="2000" dirty="0">
                <a:latin typeface="Times New Roman" panose="02020603050405020304" pitchFamily="18" charset="0"/>
                <a:cs typeface="Times New Roman" panose="02020603050405020304" pitchFamily="18" charset="0"/>
              </a:rPr>
              <a:t>)</a:t>
            </a:r>
            <a:endParaRPr lang="en-KR" sz="2000" dirty="0">
              <a:latin typeface="Times New Roman" panose="02020603050405020304" pitchFamily="18" charset="0"/>
              <a:cs typeface="Times New Roman" panose="02020603050405020304" pitchFamily="18" charset="0"/>
            </a:endParaRPr>
          </a:p>
          <a:p>
            <a:pPr lvl="1"/>
            <a:r>
              <a:rPr lang="en-KR" sz="2000" dirty="0">
                <a:latin typeface="Times New Roman" panose="02020603050405020304" pitchFamily="18" charset="0"/>
                <a:cs typeface="Times New Roman" panose="02020603050405020304" pitchFamily="18" charset="0"/>
              </a:rPr>
              <a:t>Selected 80% of the unique subject IDs for the training set and assigned all corresponding observations to it, while the remaining 20% of subject IDs were used for the test set </a:t>
            </a:r>
            <a:r>
              <a:rPr lang="en-US" altLang="zh-CN" sz="2000" dirty="0">
                <a:latin typeface="Times New Roman" panose="02020603050405020304" pitchFamily="18" charset="0"/>
                <a:cs typeface="Times New Roman" panose="02020603050405020304" pitchFamily="18" charset="0"/>
              </a:rPr>
              <a:t>.</a:t>
            </a:r>
          </a:p>
          <a:p>
            <a:pPr lvl="1"/>
            <a:endParaRPr lang="en-KR" sz="200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Feature</a:t>
            </a: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section</a:t>
            </a: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methods:</a:t>
            </a:r>
            <a:r>
              <a:rPr lang="zh-CN" altLang="en-US" sz="2000" b="1" dirty="0">
                <a:latin typeface="Times New Roman" panose="02020603050405020304" pitchFamily="18" charset="0"/>
                <a:cs typeface="Times New Roman" panose="02020603050405020304" pitchFamily="18" charset="0"/>
              </a:rPr>
              <a:t> </a:t>
            </a:r>
            <a:endParaRPr lang="en-KR" sz="2000" b="1" dirty="0">
              <a:latin typeface="Times New Roman" panose="02020603050405020304" pitchFamily="18" charset="0"/>
              <a:cs typeface="Times New Roman" panose="02020603050405020304" pitchFamily="18" charset="0"/>
            </a:endParaRPr>
          </a:p>
          <a:p>
            <a:pPr lvl="1"/>
            <a:r>
              <a:rPr lang="en-KR" sz="2000" dirty="0">
                <a:latin typeface="Times New Roman" panose="02020603050405020304" pitchFamily="18" charset="0"/>
                <a:cs typeface="Times New Roman" panose="02020603050405020304" pitchFamily="18" charset="0"/>
              </a:rPr>
              <a:t>LASSO </a:t>
            </a:r>
            <a:r>
              <a:rPr lang="en-US" altLang="zh-CN" sz="2000" dirty="0">
                <a:latin typeface="Times New Roman" panose="02020603050405020304" pitchFamily="18" charset="0"/>
                <a:cs typeface="Times New Roman" panose="02020603050405020304" pitchFamily="18" charset="0"/>
              </a:rPr>
              <a:t>(</a:t>
            </a:r>
            <a:r>
              <a:rPr lang="en-KR" sz="2000" dirty="0">
                <a:latin typeface="Times New Roman" panose="02020603050405020304" pitchFamily="18" charset="0"/>
                <a:cs typeface="Times New Roman" panose="02020603050405020304" pitchFamily="18" charset="0"/>
              </a:rPr>
              <a:t>features with non-zero coefficients</a:t>
            </a:r>
            <a:r>
              <a:rPr lang="en-US" altLang="zh-CN" sz="2000" dirty="0">
                <a:latin typeface="Times New Roman" panose="02020603050405020304" pitchFamily="18" charset="0"/>
                <a:cs typeface="Times New Roman" panose="02020603050405020304" pitchFamily="18" charset="0"/>
              </a:rPr>
              <a:t>)</a:t>
            </a:r>
            <a:endParaRPr lang="en-KR" sz="2000" dirty="0">
              <a:latin typeface="Times New Roman" panose="02020603050405020304" pitchFamily="18" charset="0"/>
              <a:cs typeface="Times New Roman" panose="02020603050405020304" pitchFamily="18" charset="0"/>
            </a:endParaRPr>
          </a:p>
          <a:p>
            <a:pPr lvl="1"/>
            <a:r>
              <a:rPr lang="en-KR" sz="2000" dirty="0">
                <a:latin typeface="Times New Roman" panose="02020603050405020304" pitchFamily="18" charset="0"/>
                <a:cs typeface="Times New Roman" panose="02020603050405020304" pitchFamily="18" charset="0"/>
              </a:rPr>
              <a:t>Random Forest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Top Features Contributing to 98% Cumulative Importance</a:t>
            </a:r>
            <a:r>
              <a:rPr lang="en-US" altLang="zh-CN" sz="2000" dirty="0">
                <a:latin typeface="Times New Roman" panose="02020603050405020304" pitchFamily="18" charset="0"/>
                <a:cs typeface="Times New Roman" panose="02020603050405020304" pitchFamily="18" charset="0"/>
              </a:rPr>
              <a:t>)</a:t>
            </a:r>
          </a:p>
          <a:p>
            <a:pPr lvl="1"/>
            <a:endParaRPr lang="en-KR" sz="200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P</a:t>
            </a:r>
            <a:r>
              <a:rPr lang="en-KR" sz="2000" b="1" dirty="0">
                <a:latin typeface="Times New Roman" panose="02020603050405020304" pitchFamily="18" charset="0"/>
                <a:cs typeface="Times New Roman" panose="02020603050405020304" pitchFamily="18" charset="0"/>
              </a:rPr>
              <a:t>rediction models</a:t>
            </a:r>
            <a:endParaRPr lang="en-KR" sz="2000" dirty="0">
              <a:latin typeface="Times New Roman" panose="02020603050405020304" pitchFamily="18" charset="0"/>
              <a:cs typeface="Times New Roman" panose="02020603050405020304" pitchFamily="18" charset="0"/>
            </a:endParaRPr>
          </a:p>
          <a:p>
            <a:pPr lvl="1"/>
            <a:r>
              <a:rPr lang="en-US" altLang="zh-CN" sz="2000" dirty="0">
                <a:latin typeface="Times New Roman" panose="02020603050405020304" pitchFamily="18" charset="0"/>
                <a:cs typeface="Times New Roman" panose="02020603050405020304" pitchFamily="18" charset="0"/>
              </a:rPr>
              <a:t>L</a:t>
            </a:r>
            <a:r>
              <a:rPr lang="en-KR" sz="2000" dirty="0">
                <a:latin typeface="Times New Roman" panose="02020603050405020304" pitchFamily="18" charset="0"/>
                <a:cs typeface="Times New Roman" panose="02020603050405020304" pitchFamily="18" charset="0"/>
              </a:rPr>
              <a:t>inear mixed-effect models </a:t>
            </a:r>
            <a:r>
              <a:rPr lang="en-US" altLang="zh-CN" sz="2000" dirty="0">
                <a:latin typeface="Times New Roman" panose="02020603050405020304" pitchFamily="18" charset="0"/>
                <a:cs typeface="Times New Roman" panose="02020603050405020304" pitchFamily="18" charset="0"/>
              </a:rPr>
              <a:t>(</a:t>
            </a:r>
            <a:r>
              <a:rPr lang="en-KR" sz="2000" dirty="0">
                <a:latin typeface="Times New Roman" panose="02020603050405020304" pitchFamily="18" charset="0"/>
                <a:cs typeface="Times New Roman" panose="02020603050405020304" pitchFamily="18" charset="0"/>
              </a:rPr>
              <a:t>random intercept model</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-LMM1</a:t>
            </a:r>
            <a:r>
              <a:rPr lang="zh-CN" altLang="en-US" sz="2000" dirty="0">
                <a:latin typeface="Times New Roman" panose="02020603050405020304" pitchFamily="18" charset="0"/>
                <a:cs typeface="Times New Roman" panose="02020603050405020304" pitchFamily="18" charset="0"/>
              </a:rPr>
              <a:t> </a:t>
            </a:r>
            <a:r>
              <a:rPr lang="en-KR" sz="2000" dirty="0">
                <a:latin typeface="Times New Roman" panose="02020603050405020304" pitchFamily="18" charset="0"/>
                <a:cs typeface="Times New Roman" panose="02020603050405020304" pitchFamily="18" charset="0"/>
              </a:rPr>
              <a:t>, random slope model</a:t>
            </a:r>
            <a:r>
              <a:rPr lang="en-US" altLang="zh-CN" sz="2000" dirty="0">
                <a:latin typeface="Times New Roman" panose="02020603050405020304" pitchFamily="18" charset="0"/>
                <a:cs typeface="Times New Roman" panose="02020603050405020304" pitchFamily="18" charset="0"/>
              </a:rPr>
              <a:t> -LMM2</a:t>
            </a:r>
            <a:r>
              <a:rPr lang="en-KR" sz="2000" dirty="0">
                <a:latin typeface="Times New Roman" panose="02020603050405020304" pitchFamily="18" charset="0"/>
                <a:cs typeface="Times New Roman" panose="02020603050405020304" pitchFamily="18" charset="0"/>
              </a:rPr>
              <a:t>, and random intercept and slope model</a:t>
            </a:r>
            <a:r>
              <a:rPr lang="en-US" altLang="zh-CN" sz="2000" dirty="0">
                <a:latin typeface="Times New Roman" panose="02020603050405020304" pitchFamily="18" charset="0"/>
                <a:cs typeface="Times New Roman" panose="02020603050405020304" pitchFamily="18" charset="0"/>
              </a:rPr>
              <a:t> -LMM3)</a:t>
            </a:r>
            <a:endParaRPr lang="en-KR" sz="2000" dirty="0">
              <a:latin typeface="Times New Roman" panose="02020603050405020304" pitchFamily="18" charset="0"/>
              <a:cs typeface="Times New Roman" panose="02020603050405020304" pitchFamily="18" charset="0"/>
            </a:endParaRPr>
          </a:p>
          <a:p>
            <a:pPr lvl="1"/>
            <a:r>
              <a:rPr lang="en-KR" sz="2000" dirty="0">
                <a:latin typeface="Times New Roman" panose="02020603050405020304" pitchFamily="18" charset="0"/>
                <a:cs typeface="Times New Roman" panose="02020603050405020304" pitchFamily="18" charset="0"/>
              </a:rPr>
              <a:t>XGBoost</a:t>
            </a:r>
          </a:p>
          <a:p>
            <a:pPr lvl="1"/>
            <a:r>
              <a:rPr lang="en-KR" sz="2000" dirty="0">
                <a:latin typeface="Times New Roman" panose="02020603050405020304" pitchFamily="18" charset="0"/>
                <a:cs typeface="Times New Roman" panose="02020603050405020304" pitchFamily="18" charset="0"/>
              </a:rPr>
              <a:t>Random Forest (RF)</a:t>
            </a:r>
          </a:p>
          <a:p>
            <a:pPr lvl="1"/>
            <a:r>
              <a:rPr lang="en-KR" sz="2000" dirty="0">
                <a:latin typeface="Times New Roman" panose="02020603050405020304" pitchFamily="18" charset="0"/>
                <a:cs typeface="Times New Roman" panose="02020603050405020304" pitchFamily="18" charset="0"/>
              </a:rPr>
              <a:t>Support Vector Regression (SVR)</a:t>
            </a:r>
          </a:p>
        </p:txBody>
      </p:sp>
    </p:spTree>
    <p:extLst>
      <p:ext uri="{BB962C8B-B14F-4D97-AF65-F5344CB8AC3E}">
        <p14:creationId xmlns:p14="http://schemas.microsoft.com/office/powerpoint/2010/main" val="2472743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FC92-7AE8-1FE8-343B-949E0DB61B72}"/>
              </a:ext>
            </a:extLst>
          </p:cNvPr>
          <p:cNvSpPr>
            <a:spLocks noGrp="1"/>
          </p:cNvSpPr>
          <p:nvPr>
            <p:ph type="title"/>
          </p:nvPr>
        </p:nvSpPr>
        <p:spPr>
          <a:xfrm>
            <a:off x="838200" y="365125"/>
            <a:ext cx="10973844" cy="1325563"/>
          </a:xfrm>
        </p:spPr>
        <p:txBody>
          <a:bodyPr>
            <a:normAutofit/>
          </a:bodyPr>
          <a:lstStyle/>
          <a:p>
            <a:r>
              <a:rPr lang="en-US" sz="4000" dirty="0">
                <a:latin typeface="Times New Roman" panose="02020603050405020304" pitchFamily="18" charset="0"/>
                <a:cs typeface="Times New Roman" panose="02020603050405020304" pitchFamily="18" charset="0"/>
              </a:rPr>
              <a:t>E</a:t>
            </a:r>
            <a:r>
              <a:rPr lang="en-US" altLang="zh-CN" sz="4000" dirty="0">
                <a:latin typeface="Times New Roman" panose="02020603050405020304" pitchFamily="18" charset="0"/>
                <a:cs typeface="Times New Roman" panose="02020603050405020304" pitchFamily="18" charset="0"/>
              </a:rPr>
              <a:t>D</a:t>
            </a:r>
            <a:r>
              <a:rPr lang="en-US" sz="4000" dirty="0">
                <a:latin typeface="Times New Roman" panose="02020603050405020304" pitchFamily="18" charset="0"/>
                <a:cs typeface="Times New Roman" panose="02020603050405020304" pitchFamily="18" charset="0"/>
              </a:rPr>
              <a:t>A</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Trajectories</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and</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Dataset</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(KARE</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T2D)</a:t>
            </a:r>
            <a:endParaRPr lang="en-KR" sz="4000" dirty="0"/>
          </a:p>
        </p:txBody>
      </p:sp>
      <p:pic>
        <p:nvPicPr>
          <p:cNvPr id="4" name="Content Placeholder 3">
            <a:extLst>
              <a:ext uri="{FF2B5EF4-FFF2-40B4-BE49-F238E27FC236}">
                <a16:creationId xmlns:a16="http://schemas.microsoft.com/office/drawing/2014/main" id="{065C3CE2-6254-8415-AD98-38A0AB6D5C5B}"/>
              </a:ext>
            </a:extLst>
          </p:cNvPr>
          <p:cNvPicPr>
            <a:picLocks noGrp="1" noChangeAspect="1"/>
          </p:cNvPicPr>
          <p:nvPr>
            <p:ph idx="1"/>
          </p:nvPr>
        </p:nvPicPr>
        <p:blipFill>
          <a:blip r:embed="rId2"/>
          <a:stretch>
            <a:fillRect/>
          </a:stretch>
        </p:blipFill>
        <p:spPr>
          <a:xfrm>
            <a:off x="180677" y="2268015"/>
            <a:ext cx="4132590" cy="3086365"/>
          </a:xfrm>
          <a:prstGeom prst="rect">
            <a:avLst/>
          </a:prstGeom>
        </p:spPr>
      </p:pic>
      <p:graphicFrame>
        <p:nvGraphicFramePr>
          <p:cNvPr id="8" name="Table 7">
            <a:extLst>
              <a:ext uri="{FF2B5EF4-FFF2-40B4-BE49-F238E27FC236}">
                <a16:creationId xmlns:a16="http://schemas.microsoft.com/office/drawing/2014/main" id="{4C0592B5-67E5-570C-1467-4B8F84812C3C}"/>
              </a:ext>
            </a:extLst>
          </p:cNvPr>
          <p:cNvGraphicFramePr>
            <a:graphicFrameLocks noGrp="1"/>
          </p:cNvGraphicFramePr>
          <p:nvPr>
            <p:extLst>
              <p:ext uri="{D42A27DB-BD31-4B8C-83A1-F6EECF244321}">
                <p14:modId xmlns:p14="http://schemas.microsoft.com/office/powerpoint/2010/main" val="3003216687"/>
              </p:ext>
            </p:extLst>
          </p:nvPr>
        </p:nvGraphicFramePr>
        <p:xfrm>
          <a:off x="9093896" y="1737995"/>
          <a:ext cx="2329842" cy="4693920"/>
        </p:xfrm>
        <a:graphic>
          <a:graphicData uri="http://schemas.openxmlformats.org/drawingml/2006/table">
            <a:tbl>
              <a:tblPr firstRow="1" bandRow="1">
                <a:tableStyleId>{B301B821-A1FF-4177-AEE7-76D212191A09}</a:tableStyleId>
              </a:tblPr>
              <a:tblGrid>
                <a:gridCol w="1127343">
                  <a:extLst>
                    <a:ext uri="{9D8B030D-6E8A-4147-A177-3AD203B41FA5}">
                      <a16:colId xmlns:a16="http://schemas.microsoft.com/office/drawing/2014/main" val="3149948127"/>
                    </a:ext>
                  </a:extLst>
                </a:gridCol>
                <a:gridCol w="1202499">
                  <a:extLst>
                    <a:ext uri="{9D8B030D-6E8A-4147-A177-3AD203B41FA5}">
                      <a16:colId xmlns:a16="http://schemas.microsoft.com/office/drawing/2014/main" val="1281333032"/>
                    </a:ext>
                  </a:extLst>
                </a:gridCol>
              </a:tblGrid>
              <a:tr h="291901">
                <a:tc>
                  <a:txBody>
                    <a:bodyPr/>
                    <a:lstStyle/>
                    <a:p>
                      <a:pPr algn="ctr"/>
                      <a:r>
                        <a:rPr lang="en-KR" sz="1600" dirty="0">
                          <a:latin typeface="Times New Roman" panose="02020603050405020304" pitchFamily="18" charset="0"/>
                          <a:cs typeface="Times New Roman" panose="02020603050405020304" pitchFamily="18" charset="0"/>
                        </a:rPr>
                        <a:t>Pattern</a:t>
                      </a:r>
                    </a:p>
                  </a:txBody>
                  <a:tcPr/>
                </a:tc>
                <a:tc>
                  <a:txBody>
                    <a:bodyPr/>
                    <a:lstStyle/>
                    <a:p>
                      <a:pPr algn="ctr"/>
                      <a:r>
                        <a:rPr lang="en-US" altLang="zh-CN" sz="1600" dirty="0">
                          <a:latin typeface="Times New Roman" panose="02020603050405020304" pitchFamily="18" charset="0"/>
                          <a:cs typeface="Times New Roman" panose="02020603050405020304" pitchFamily="18" charset="0"/>
                        </a:rPr>
                        <a:t>Frequency</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1265534"/>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0-0-0</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316</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3253310"/>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1-1-1</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157</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19935891"/>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2-2-2</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64</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5201302"/>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1-1-2</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56</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111861"/>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1-2-2</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52</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5921027"/>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0-2-2</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11</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29985973"/>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0-1-2</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6</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4741082"/>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0-0-2</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2</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65564514"/>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0-0</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12</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1636384"/>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1-1</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7</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91281593"/>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2-2</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7</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4228295"/>
                  </a:ext>
                </a:extLst>
              </a:tr>
              <a:tr h="291901">
                <a:tc>
                  <a:txBody>
                    <a:bodyPr/>
                    <a:lstStyle/>
                    <a:p>
                      <a:pPr algn="ctr"/>
                      <a:r>
                        <a:rPr lang="en-US" altLang="zh-CN" sz="1600" dirty="0">
                          <a:latin typeface="Times New Roman" panose="02020603050405020304" pitchFamily="18" charset="0"/>
                          <a:cs typeface="Times New Roman" panose="02020603050405020304" pitchFamily="18" charset="0"/>
                        </a:rPr>
                        <a:t>0-1</a:t>
                      </a:r>
                      <a:endParaRPr lang="en-KR"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1</a:t>
                      </a:r>
                      <a:endParaRPr lang="en-K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7918945"/>
                  </a:ext>
                </a:extLst>
              </a:tr>
              <a:tr h="291901">
                <a:tc>
                  <a:txBody>
                    <a:bodyPr/>
                    <a:lstStyle/>
                    <a:p>
                      <a:pPr algn="ctr"/>
                      <a:r>
                        <a:rPr lang="en-KR" sz="1600" b="1" dirty="0">
                          <a:latin typeface="Times New Roman" panose="02020603050405020304" pitchFamily="18" charset="0"/>
                          <a:cs typeface="Times New Roman" panose="02020603050405020304" pitchFamily="18" charset="0"/>
                        </a:rPr>
                        <a:t>Total</a:t>
                      </a:r>
                    </a:p>
                  </a:txBody>
                  <a:tcPr/>
                </a:tc>
                <a:tc>
                  <a:txBody>
                    <a:bodyPr/>
                    <a:lstStyle/>
                    <a:p>
                      <a:pPr algn="ctr"/>
                      <a:r>
                        <a:rPr lang="en-US" altLang="zh-CN" sz="1600" b="1" dirty="0">
                          <a:latin typeface="Times New Roman" panose="02020603050405020304" pitchFamily="18" charset="0"/>
                          <a:cs typeface="Times New Roman" panose="02020603050405020304" pitchFamily="18" charset="0"/>
                        </a:rPr>
                        <a:t>691</a:t>
                      </a:r>
                      <a:endParaRPr lang="en-KR"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95241962"/>
                  </a:ext>
                </a:extLst>
              </a:tr>
            </a:tbl>
          </a:graphicData>
        </a:graphic>
      </p:graphicFrame>
      <p:graphicFrame>
        <p:nvGraphicFramePr>
          <p:cNvPr id="10" name="Table 9">
            <a:extLst>
              <a:ext uri="{FF2B5EF4-FFF2-40B4-BE49-F238E27FC236}">
                <a16:creationId xmlns:a16="http://schemas.microsoft.com/office/drawing/2014/main" id="{DE61FFE8-527D-AF9C-4F75-DD84E0BED6E0}"/>
              </a:ext>
            </a:extLst>
          </p:cNvPr>
          <p:cNvGraphicFramePr>
            <a:graphicFrameLocks noGrp="1"/>
          </p:cNvGraphicFramePr>
          <p:nvPr>
            <p:extLst>
              <p:ext uri="{D42A27DB-BD31-4B8C-83A1-F6EECF244321}">
                <p14:modId xmlns:p14="http://schemas.microsoft.com/office/powerpoint/2010/main" val="2703449760"/>
              </p:ext>
            </p:extLst>
          </p:nvPr>
        </p:nvGraphicFramePr>
        <p:xfrm>
          <a:off x="4944680" y="1747690"/>
          <a:ext cx="3620266" cy="1346641"/>
        </p:xfrm>
        <a:graphic>
          <a:graphicData uri="http://schemas.openxmlformats.org/drawingml/2006/table">
            <a:tbl>
              <a:tblPr firstRow="1" bandRow="1">
                <a:tableStyleId>{B301B821-A1FF-4177-AEE7-76D212191A09}</a:tableStyleId>
              </a:tblPr>
              <a:tblGrid>
                <a:gridCol w="2155500">
                  <a:extLst>
                    <a:ext uri="{9D8B030D-6E8A-4147-A177-3AD203B41FA5}">
                      <a16:colId xmlns:a16="http://schemas.microsoft.com/office/drawing/2014/main" val="4044658265"/>
                    </a:ext>
                  </a:extLst>
                </a:gridCol>
                <a:gridCol w="1464766">
                  <a:extLst>
                    <a:ext uri="{9D8B030D-6E8A-4147-A177-3AD203B41FA5}">
                      <a16:colId xmlns:a16="http://schemas.microsoft.com/office/drawing/2014/main" val="3409588964"/>
                    </a:ext>
                  </a:extLst>
                </a:gridCol>
              </a:tblGrid>
              <a:tr h="340801">
                <a:tc>
                  <a:txBody>
                    <a:bodyPr/>
                    <a:lstStyle/>
                    <a:p>
                      <a:pPr algn="ct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measures</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per</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sample</a:t>
                      </a:r>
                      <a:endParaRPr lang="en-KR"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sample</a:t>
                      </a:r>
                      <a:endParaRPr lang="en-KR"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35921658"/>
                  </a:ext>
                </a:extLst>
              </a:tr>
              <a:tr h="281688">
                <a:tc>
                  <a:txBody>
                    <a:bodyPr/>
                    <a:lstStyle/>
                    <a:p>
                      <a:pPr algn="ctr"/>
                      <a:r>
                        <a:rPr lang="en-US" altLang="zh-CN" sz="1600" dirty="0">
                          <a:latin typeface="Times New Roman" panose="02020603050405020304" pitchFamily="18" charset="0"/>
                          <a:cs typeface="Times New Roman" panose="02020603050405020304" pitchFamily="18" charset="0"/>
                        </a:rPr>
                        <a:t>2</a:t>
                      </a:r>
                      <a:endParaRPr lang="en-KR"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b="0" dirty="0">
                          <a:solidFill>
                            <a:schemeClr val="tx1"/>
                          </a:solidFill>
                          <a:effectLst/>
                          <a:latin typeface="Times New Roman" panose="02020603050405020304" pitchFamily="18" charset="0"/>
                          <a:cs typeface="Times New Roman" panose="02020603050405020304" pitchFamily="18" charset="0"/>
                        </a:rPr>
                        <a:t>27</a:t>
                      </a:r>
                      <a:endParaRPr lang="en-KR"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88294575"/>
                  </a:ext>
                </a:extLst>
              </a:tr>
              <a:tr h="281688">
                <a:tc>
                  <a:txBody>
                    <a:bodyPr/>
                    <a:lstStyle/>
                    <a:p>
                      <a:pPr algn="ctr"/>
                      <a:r>
                        <a:rPr lang="en-US" altLang="zh-CN" sz="1600" dirty="0">
                          <a:latin typeface="Times New Roman" panose="02020603050405020304" pitchFamily="18" charset="0"/>
                          <a:cs typeface="Times New Roman" panose="02020603050405020304" pitchFamily="18" charset="0"/>
                        </a:rPr>
                        <a:t>3</a:t>
                      </a:r>
                      <a:endParaRPr lang="en-KR"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b="0" dirty="0">
                          <a:solidFill>
                            <a:schemeClr val="tx1"/>
                          </a:solidFill>
                          <a:effectLst/>
                          <a:latin typeface="Times New Roman" panose="02020603050405020304" pitchFamily="18" charset="0"/>
                          <a:cs typeface="Times New Roman" panose="02020603050405020304" pitchFamily="18" charset="0"/>
                        </a:rPr>
                        <a:t>664</a:t>
                      </a:r>
                      <a:endParaRPr lang="en-KR"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11337922"/>
                  </a:ext>
                </a:extLst>
              </a:tr>
              <a:tr h="281688">
                <a:tc>
                  <a:txBody>
                    <a:bodyPr/>
                    <a:lstStyle/>
                    <a:p>
                      <a:pPr algn="ctr"/>
                      <a:r>
                        <a:rPr lang="en-US" altLang="zh-CN" sz="1600" b="1" dirty="0">
                          <a:latin typeface="Times New Roman" panose="02020603050405020304" pitchFamily="18" charset="0"/>
                          <a:cs typeface="Times New Roman" panose="02020603050405020304" pitchFamily="18" charset="0"/>
                        </a:rPr>
                        <a:t>Total</a:t>
                      </a:r>
                      <a:r>
                        <a:rPr lang="zh-CN" altLang="en-US" sz="1600" b="1" dirty="0">
                          <a:latin typeface="Times New Roman" panose="02020603050405020304" pitchFamily="18" charset="0"/>
                          <a:cs typeface="Times New Roman" panose="02020603050405020304" pitchFamily="18" charset="0"/>
                        </a:rPr>
                        <a:t> </a:t>
                      </a:r>
                      <a:endParaRPr lang="en-KR"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691</a:t>
                      </a:r>
                      <a:endParaRPr lang="en-KR" sz="1600" b="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84833963"/>
                  </a:ext>
                </a:extLst>
              </a:tr>
            </a:tbl>
          </a:graphicData>
        </a:graphic>
      </p:graphicFrame>
      <p:graphicFrame>
        <p:nvGraphicFramePr>
          <p:cNvPr id="13" name="Table 12">
            <a:extLst>
              <a:ext uri="{FF2B5EF4-FFF2-40B4-BE49-F238E27FC236}">
                <a16:creationId xmlns:a16="http://schemas.microsoft.com/office/drawing/2014/main" id="{D5B1F810-00B1-B221-13AB-73355EB36E56}"/>
              </a:ext>
            </a:extLst>
          </p:cNvPr>
          <p:cNvGraphicFramePr>
            <a:graphicFrameLocks noGrp="1"/>
          </p:cNvGraphicFramePr>
          <p:nvPr>
            <p:extLst>
              <p:ext uri="{D42A27DB-BD31-4B8C-83A1-F6EECF244321}">
                <p14:modId xmlns:p14="http://schemas.microsoft.com/office/powerpoint/2010/main" val="1505028002"/>
              </p:ext>
            </p:extLst>
          </p:nvPr>
        </p:nvGraphicFramePr>
        <p:xfrm>
          <a:off x="4944681" y="4084955"/>
          <a:ext cx="3620265" cy="1854200"/>
        </p:xfrm>
        <a:graphic>
          <a:graphicData uri="http://schemas.openxmlformats.org/drawingml/2006/table">
            <a:tbl>
              <a:tblPr firstRow="1" bandRow="1">
                <a:tableStyleId>{B301B821-A1FF-4177-AEE7-76D212191A09}</a:tableStyleId>
              </a:tblPr>
              <a:tblGrid>
                <a:gridCol w="1455045">
                  <a:extLst>
                    <a:ext uri="{9D8B030D-6E8A-4147-A177-3AD203B41FA5}">
                      <a16:colId xmlns:a16="http://schemas.microsoft.com/office/drawing/2014/main" val="2664260593"/>
                    </a:ext>
                  </a:extLst>
                </a:gridCol>
                <a:gridCol w="2165220">
                  <a:extLst>
                    <a:ext uri="{9D8B030D-6E8A-4147-A177-3AD203B41FA5}">
                      <a16:colId xmlns:a16="http://schemas.microsoft.com/office/drawing/2014/main" val="4090233682"/>
                    </a:ext>
                  </a:extLst>
                </a:gridCol>
              </a:tblGrid>
              <a:tr h="370840">
                <a:tc>
                  <a:txBody>
                    <a:bodyPr/>
                    <a:lstStyle/>
                    <a:p>
                      <a:pPr algn="ctr"/>
                      <a:r>
                        <a:rPr lang="en-US" sz="1800" b="1" kern="1200" dirty="0">
                          <a:solidFill>
                            <a:schemeClr val="lt1"/>
                          </a:solidFill>
                          <a:latin typeface="Times New Roman" panose="02020603050405020304" pitchFamily="18" charset="0"/>
                          <a:ea typeface="+mn-ea"/>
                          <a:cs typeface="Times New Roman" panose="02020603050405020304" pitchFamily="18" charset="0"/>
                        </a:rPr>
                        <a:t>Status</a:t>
                      </a:r>
                      <a:endParaRPr lang="en-KR" sz="1800" b="1" kern="1200" dirty="0">
                        <a:solidFill>
                          <a:schemeClr val="lt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#observation</a:t>
                      </a:r>
                      <a:endParaRPr lang="en-K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5340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dk1"/>
                          </a:solidFill>
                          <a:latin typeface="Times New Roman" panose="02020603050405020304" pitchFamily="18" charset="0"/>
                          <a:ea typeface="+mn-ea"/>
                          <a:cs typeface="Times New Roman" panose="02020603050405020304" pitchFamily="18" charset="0"/>
                        </a:rPr>
                        <a:t>0</a:t>
                      </a:r>
                      <a:endParaRPr lang="en-KR"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Times New Roman" panose="02020603050405020304" pitchFamily="18" charset="0"/>
                          <a:ea typeface="+mn-ea"/>
                          <a:cs typeface="Times New Roman" panose="02020603050405020304" pitchFamily="18" charset="0"/>
                        </a:rPr>
                        <a:t>994</a:t>
                      </a:r>
                      <a:endParaRPr lang="en-KR"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6214328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dk1"/>
                          </a:solidFill>
                          <a:latin typeface="Times New Roman" panose="02020603050405020304" pitchFamily="18" charset="0"/>
                          <a:ea typeface="+mn-ea"/>
                          <a:cs typeface="Times New Roman" panose="02020603050405020304" pitchFamily="18" charset="0"/>
                        </a:rPr>
                        <a:t>1</a:t>
                      </a:r>
                      <a:endParaRPr lang="en-KR"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Times New Roman" panose="02020603050405020304" pitchFamily="18" charset="0"/>
                          <a:ea typeface="+mn-ea"/>
                          <a:cs typeface="Times New Roman" panose="02020603050405020304" pitchFamily="18" charset="0"/>
                        </a:rPr>
                        <a:t>656</a:t>
                      </a:r>
                      <a:endParaRPr lang="en-KR"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98009237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dk1"/>
                          </a:solidFill>
                          <a:latin typeface="Times New Roman" panose="02020603050405020304" pitchFamily="18" charset="0"/>
                          <a:ea typeface="+mn-ea"/>
                          <a:cs typeface="Times New Roman" panose="02020603050405020304" pitchFamily="18" charset="0"/>
                        </a:rPr>
                        <a:t>2</a:t>
                      </a:r>
                      <a:endParaRPr lang="en-KR"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Times New Roman" panose="02020603050405020304" pitchFamily="18" charset="0"/>
                          <a:ea typeface="+mn-ea"/>
                          <a:cs typeface="Times New Roman" panose="02020603050405020304" pitchFamily="18" charset="0"/>
                        </a:rPr>
                        <a:t>396</a:t>
                      </a:r>
                      <a:endParaRPr lang="en-KR"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2783481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latin typeface="Times New Roman" panose="02020603050405020304" pitchFamily="18" charset="0"/>
                          <a:cs typeface="Times New Roman" panose="02020603050405020304" pitchFamily="18" charset="0"/>
                        </a:rPr>
                        <a:t>Total</a:t>
                      </a:r>
                      <a:r>
                        <a:rPr lang="zh-CN" altLang="en-US" sz="1800" b="1" dirty="0">
                          <a:latin typeface="Times New Roman" panose="02020603050405020304" pitchFamily="18" charset="0"/>
                          <a:cs typeface="Times New Roman" panose="02020603050405020304" pitchFamily="18" charset="0"/>
                        </a:rPr>
                        <a:t> </a:t>
                      </a:r>
                      <a:endParaRPr lang="en-KR" sz="18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b="1" dirty="0">
                          <a:latin typeface="Times New Roman" panose="02020603050405020304" pitchFamily="18" charset="0"/>
                          <a:cs typeface="Times New Roman" panose="02020603050405020304" pitchFamily="18" charset="0"/>
                        </a:rPr>
                        <a:t>2046</a:t>
                      </a:r>
                      <a:endParaRPr lang="en-KR"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78264765"/>
                  </a:ext>
                </a:extLst>
              </a:tr>
            </a:tbl>
          </a:graphicData>
        </a:graphic>
      </p:graphicFrame>
      <p:sp>
        <p:nvSpPr>
          <p:cNvPr id="14" name="TextBox 13">
            <a:extLst>
              <a:ext uri="{FF2B5EF4-FFF2-40B4-BE49-F238E27FC236}">
                <a16:creationId xmlns:a16="http://schemas.microsoft.com/office/drawing/2014/main" id="{98CFA26D-37DE-56CE-E8C7-EBF95A7075DF}"/>
              </a:ext>
            </a:extLst>
          </p:cNvPr>
          <p:cNvSpPr txBox="1"/>
          <p:nvPr/>
        </p:nvSpPr>
        <p:spPr>
          <a:xfrm>
            <a:off x="4703672" y="3166363"/>
            <a:ext cx="4190571"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Distribution of Measurement Counts per Sample</a:t>
            </a:r>
          </a:p>
        </p:txBody>
      </p:sp>
      <p:sp>
        <p:nvSpPr>
          <p:cNvPr id="15" name="TextBox 14">
            <a:extLst>
              <a:ext uri="{FF2B5EF4-FFF2-40B4-BE49-F238E27FC236}">
                <a16:creationId xmlns:a16="http://schemas.microsoft.com/office/drawing/2014/main" id="{409443A4-751E-4A0E-7CF2-8B97AB525B0B}"/>
              </a:ext>
            </a:extLst>
          </p:cNvPr>
          <p:cNvSpPr txBox="1"/>
          <p:nvPr/>
        </p:nvSpPr>
        <p:spPr>
          <a:xfrm>
            <a:off x="4418466" y="6064105"/>
            <a:ext cx="4475777"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Distribution of Diabetes Status Across Observations</a:t>
            </a:r>
          </a:p>
        </p:txBody>
      </p:sp>
      <p:sp>
        <p:nvSpPr>
          <p:cNvPr id="16" name="TextBox 15">
            <a:extLst>
              <a:ext uri="{FF2B5EF4-FFF2-40B4-BE49-F238E27FC236}">
                <a16:creationId xmlns:a16="http://schemas.microsoft.com/office/drawing/2014/main" id="{33B2A909-E44B-88FF-6723-5998E8AEFD77}"/>
              </a:ext>
            </a:extLst>
          </p:cNvPr>
          <p:cNvSpPr txBox="1"/>
          <p:nvPr/>
        </p:nvSpPr>
        <p:spPr>
          <a:xfrm>
            <a:off x="8564946" y="6503947"/>
            <a:ext cx="3403752"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Longitudinal Status Transition Patterns</a:t>
            </a:r>
          </a:p>
        </p:txBody>
      </p:sp>
      <p:sp>
        <p:nvSpPr>
          <p:cNvPr id="3" name="TextBox 2">
            <a:extLst>
              <a:ext uri="{FF2B5EF4-FFF2-40B4-BE49-F238E27FC236}">
                <a16:creationId xmlns:a16="http://schemas.microsoft.com/office/drawing/2014/main" id="{017147C6-A15F-7424-1732-3D910F64DAD4}"/>
              </a:ext>
            </a:extLst>
          </p:cNvPr>
          <p:cNvSpPr txBox="1"/>
          <p:nvPr/>
        </p:nvSpPr>
        <p:spPr>
          <a:xfrm>
            <a:off x="54688" y="5354380"/>
            <a:ext cx="4670189" cy="584775"/>
          </a:xfrm>
          <a:prstGeom prst="rect">
            <a:avLst/>
          </a:prstGeom>
          <a:noFill/>
        </p:spPr>
        <p:txBody>
          <a:bodyPr wrap="none" rtlCol="0">
            <a:spAutoFit/>
          </a:bodyPr>
          <a:lstStyle/>
          <a:p>
            <a:pPr>
              <a:buNone/>
            </a:pPr>
            <a:r>
              <a:rPr lang="en-US" sz="1600" b="1" dirty="0">
                <a:latin typeface="Times New Roman" panose="02020603050405020304" pitchFamily="18" charset="0"/>
                <a:cs typeface="Times New Roman" panose="02020603050405020304" pitchFamily="18" charset="0"/>
              </a:rPr>
              <a:t>Figure 1: Trajectories of </a:t>
            </a:r>
            <a:r>
              <a:rPr lang="en-US" altLang="zh-CN" sz="1600" b="1" dirty="0">
                <a:latin typeface="Times New Roman" panose="02020603050405020304" pitchFamily="18" charset="0"/>
                <a:cs typeface="Times New Roman" panose="02020603050405020304" pitchFamily="18" charset="0"/>
              </a:rPr>
              <a:t>T2D</a:t>
            </a:r>
            <a:r>
              <a:rPr lang="zh-CN" altLang="en-US" sz="1600" b="1" dirty="0">
                <a:latin typeface="Times New Roman" panose="02020603050405020304" pitchFamily="18" charset="0"/>
                <a:cs typeface="Times New Roman" panose="02020603050405020304" pitchFamily="18" charset="0"/>
              </a:rPr>
              <a:t> </a:t>
            </a:r>
            <a:r>
              <a:rPr lang="en-US" altLang="zh-CN" sz="1600" b="1" dirty="0">
                <a:latin typeface="Times New Roman" panose="02020603050405020304" pitchFamily="18" charset="0"/>
                <a:cs typeface="Times New Roman" panose="02020603050405020304" pitchFamily="18" charset="0"/>
              </a:rPr>
              <a:t>status</a:t>
            </a:r>
            <a:r>
              <a:rPr lang="zh-CN" altLang="en-US" sz="16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for Individuals</a:t>
            </a:r>
          </a:p>
          <a:p>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Control</a:t>
            </a:r>
            <a:r>
              <a:rPr lang="en-US" altLang="zh-CN"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pre-</a:t>
            </a:r>
            <a:r>
              <a:rPr lang="en-US" altLang="zh-CN" sz="1600"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2</a:t>
            </a:r>
            <a:r>
              <a:rPr lang="en-US" altLang="zh-CN" sz="1600" dirty="0">
                <a:latin typeface="Times New Roman" panose="02020603050405020304" pitchFamily="18" charset="0"/>
                <a:cs typeface="Times New Roman" panose="02020603050405020304" pitchFamily="18" charset="0"/>
              </a:rPr>
              <a:t>D;</a:t>
            </a:r>
            <a:r>
              <a:rPr 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2D</a:t>
            </a:r>
            <a:endParaRPr lang="en-K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6918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C20350-2E51-8AC9-A234-F7FB831BBD40}"/>
              </a:ext>
            </a:extLst>
          </p:cNvPr>
          <p:cNvSpPr>
            <a:spLocks noGrp="1"/>
          </p:cNvSpPr>
          <p:nvPr>
            <p:ph idx="1"/>
          </p:nvPr>
        </p:nvSpPr>
        <p:spPr>
          <a:xfrm>
            <a:off x="983118" y="1903532"/>
            <a:ext cx="10757777" cy="1908923"/>
          </a:xfrm>
        </p:spPr>
        <p:txBody>
          <a:bodyPr>
            <a:normAutofit/>
          </a:bodyPr>
          <a:lstStyle/>
          <a:p>
            <a:pPr marL="0" indent="0">
              <a:buNone/>
            </a:pP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Existing methods in feature selection typically only consider the importance of features, without accounting for the varying importance of individual samples. In other words, all samples are treated with equal weight. </a:t>
            </a:r>
            <a:r>
              <a:rPr lang="en-US" sz="2000" b="1" dirty="0">
                <a:latin typeface="Times New Roman" panose="02020603050405020304" pitchFamily="18" charset="0"/>
                <a:cs typeface="Times New Roman" panose="02020603050405020304" pitchFamily="18" charset="0"/>
              </a:rPr>
              <a:t>This approach fails to highlight the contribution of </a:t>
            </a:r>
            <a:r>
              <a:rPr lang="en-US" sz="2000" b="1" dirty="0">
                <a:highlight>
                  <a:srgbClr val="FFFF00"/>
                </a:highlight>
                <a:latin typeface="Times New Roman" panose="02020603050405020304" pitchFamily="18" charset="0"/>
                <a:cs typeface="Times New Roman" panose="02020603050405020304" pitchFamily="18" charset="0"/>
              </a:rPr>
              <a:t>high-quality</a:t>
            </a:r>
            <a:r>
              <a:rPr lang="en-US" sz="2000" b="1" dirty="0">
                <a:latin typeface="Times New Roman" panose="02020603050405020304" pitchFamily="18" charset="0"/>
                <a:cs typeface="Times New Roman" panose="02020603050405020304" pitchFamily="18" charset="0"/>
              </a:rPr>
              <a:t> samples and does not </a:t>
            </a:r>
            <a:r>
              <a:rPr lang="en-US" sz="2000" b="1" dirty="0">
                <a:highlight>
                  <a:srgbClr val="FFFF00"/>
                </a:highlight>
                <a:latin typeface="Times New Roman" panose="02020603050405020304" pitchFamily="18" charset="0"/>
                <a:cs typeface="Times New Roman" panose="02020603050405020304" pitchFamily="18" charset="0"/>
              </a:rPr>
              <a:t>reduce the impact of noisy </a:t>
            </a:r>
            <a:r>
              <a:rPr lang="en-US" sz="2000" b="1" dirty="0">
                <a:latin typeface="Times New Roman" panose="02020603050405020304" pitchFamily="18" charset="0"/>
                <a:cs typeface="Times New Roman" panose="02020603050405020304" pitchFamily="18" charset="0"/>
              </a:rPr>
              <a:t>or anomalous samples,</a:t>
            </a:r>
            <a:r>
              <a:rPr lang="en-US" sz="2000" dirty="0">
                <a:latin typeface="Times New Roman" panose="02020603050405020304" pitchFamily="18" charset="0"/>
                <a:cs typeface="Times New Roman" panose="02020603050405020304" pitchFamily="18" charset="0"/>
              </a:rPr>
              <a:t> which can limit the performance of learning algorithms.</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sz="2000" b="0" i="0" u="none" strike="noStrike" dirty="0">
                <a:solidFill>
                  <a:srgbClr val="222222"/>
                </a:solidFill>
                <a:effectLst/>
                <a:latin typeface="Times New Roman" panose="02020603050405020304" pitchFamily="18" charset="0"/>
                <a:cs typeface="Times New Roman" panose="02020603050405020304" pitchFamily="18" charset="0"/>
              </a:rPr>
              <a:t>Liang Y, Gan J, Chen Y, et al. Unsupervised feature selection algorithm based on dual manifold re-ranking[J]. </a:t>
            </a:r>
            <a:r>
              <a:rPr lang="en-US" sz="2000" b="0" i="0" u="none" strike="noStrike" dirty="0" err="1">
                <a:solidFill>
                  <a:srgbClr val="222222"/>
                </a:solidFill>
                <a:effectLst/>
                <a:latin typeface="Times New Roman" panose="02020603050405020304" pitchFamily="18" charset="0"/>
                <a:cs typeface="Times New Roman" panose="02020603050405020304" pitchFamily="18" charset="0"/>
              </a:rPr>
              <a:t>arXiv</a:t>
            </a:r>
            <a:r>
              <a:rPr lang="en-US" sz="2000" b="0" i="0" u="none" strike="noStrike" dirty="0">
                <a:solidFill>
                  <a:srgbClr val="222222"/>
                </a:solidFill>
                <a:effectLst/>
                <a:latin typeface="Times New Roman" panose="02020603050405020304" pitchFamily="18" charset="0"/>
                <a:cs typeface="Times New Roman" panose="02020603050405020304" pitchFamily="18" charset="0"/>
              </a:rPr>
              <a:t> preprint arXiv:2410.20388, 2024.</a:t>
            </a:r>
            <a:endParaRPr lang="en-US" sz="2000" dirty="0">
              <a:solidFill>
                <a:srgbClr val="222222"/>
              </a:solidFill>
              <a:latin typeface="Times New Roman" panose="02020603050405020304" pitchFamily="18" charset="0"/>
              <a:cs typeface="Times New Roman" panose="02020603050405020304" pitchFamily="18" charset="0"/>
            </a:endParaRPr>
          </a:p>
        </p:txBody>
      </p:sp>
      <p:sp>
        <p:nvSpPr>
          <p:cNvPr id="14" name="Title 1">
            <a:extLst>
              <a:ext uri="{FF2B5EF4-FFF2-40B4-BE49-F238E27FC236}">
                <a16:creationId xmlns:a16="http://schemas.microsoft.com/office/drawing/2014/main" id="{529D738B-E727-8A3B-234F-A74A7F41107B}"/>
              </a:ext>
            </a:extLst>
          </p:cNvPr>
          <p:cNvSpPr>
            <a:spLocks noGrp="1"/>
          </p:cNvSpPr>
          <p:nvPr>
            <p:ph type="title"/>
          </p:nvPr>
        </p:nvSpPr>
        <p:spPr>
          <a:xfrm>
            <a:off x="838200" y="365125"/>
            <a:ext cx="11145982" cy="1325563"/>
          </a:xfrm>
        </p:spPr>
        <p:txBody>
          <a:bodyPr>
            <a:normAutofit/>
          </a:bodyPr>
          <a:lstStyle/>
          <a:p>
            <a:pPr>
              <a:buNone/>
            </a:pPr>
            <a:r>
              <a:rPr lang="en-US" altLang="zh-CN" sz="4000" dirty="0">
                <a:latin typeface="Times New Roman" panose="02020603050405020304" pitchFamily="18" charset="0"/>
                <a:cs typeface="Times New Roman" panose="02020603050405020304" pitchFamily="18" charset="0"/>
              </a:rPr>
              <a:t>Reason</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for</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assigning</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different</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weight</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to</a:t>
            </a:r>
            <a:r>
              <a:rPr lang="zh-CN" altLang="en-US" sz="40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observations</a:t>
            </a:r>
          </a:p>
        </p:txBody>
      </p:sp>
      <p:sp>
        <p:nvSpPr>
          <p:cNvPr id="4" name="TextBox 3">
            <a:extLst>
              <a:ext uri="{FF2B5EF4-FFF2-40B4-BE49-F238E27FC236}">
                <a16:creationId xmlns:a16="http://schemas.microsoft.com/office/drawing/2014/main" id="{7D99E39F-295D-A6AB-3A2B-4FB14379EE77}"/>
              </a:ext>
            </a:extLst>
          </p:cNvPr>
          <p:cNvSpPr txBox="1"/>
          <p:nvPr/>
        </p:nvSpPr>
        <p:spPr>
          <a:xfrm>
            <a:off x="1764649" y="4424881"/>
            <a:ext cx="8662702" cy="101566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Not </a:t>
            </a:r>
            <a:r>
              <a:rPr lang="en-US" altLang="zh-CN" sz="2000" b="1" dirty="0">
                <a:latin typeface="Times New Roman" panose="02020603050405020304" pitchFamily="18" charset="0"/>
                <a:cs typeface="Times New Roman" panose="02020603050405020304" pitchFamily="18" charset="0"/>
              </a:rPr>
              <a:t>a</a:t>
            </a:r>
            <a:r>
              <a:rPr lang="en-US" sz="2000" b="1" dirty="0">
                <a:latin typeface="Times New Roman" panose="02020603050405020304" pitchFamily="18" charset="0"/>
                <a:cs typeface="Times New Roman" panose="02020603050405020304" pitchFamily="18" charset="0"/>
              </a:rPr>
              <a:t>ll </a:t>
            </a:r>
            <a:r>
              <a:rPr lang="en-US" altLang="zh-CN" sz="2000" b="1" dirty="0">
                <a:latin typeface="Times New Roman" panose="02020603050405020304" pitchFamily="18" charset="0"/>
                <a:cs typeface="Times New Roman" panose="02020603050405020304" pitchFamily="18" charset="0"/>
              </a:rPr>
              <a:t>s</a:t>
            </a:r>
            <a:r>
              <a:rPr lang="en-US" sz="2000" b="1" dirty="0">
                <a:latin typeface="Times New Roman" panose="02020603050405020304" pitchFamily="18" charset="0"/>
                <a:cs typeface="Times New Roman" panose="02020603050405020304" pitchFamily="18" charset="0"/>
              </a:rPr>
              <a:t>amples </a:t>
            </a:r>
            <a:r>
              <a:rPr lang="en-US" altLang="zh-CN" sz="2000" b="1" dirty="0">
                <a:latin typeface="Times New Roman" panose="02020603050405020304" pitchFamily="18" charset="0"/>
                <a:cs typeface="Times New Roman" panose="02020603050405020304" pitchFamily="18" charset="0"/>
              </a:rPr>
              <a:t>a</a:t>
            </a:r>
            <a:r>
              <a:rPr lang="en-US" sz="2000" b="1" dirty="0">
                <a:latin typeface="Times New Roman" panose="02020603050405020304" pitchFamily="18" charset="0"/>
                <a:cs typeface="Times New Roman" panose="02020603050405020304" pitchFamily="18" charset="0"/>
              </a:rPr>
              <a:t>re </a:t>
            </a:r>
            <a:r>
              <a:rPr lang="en-US" altLang="zh-CN" sz="2000" b="1" dirty="0">
                <a:latin typeface="Times New Roman" panose="02020603050405020304" pitchFamily="18" charset="0"/>
                <a:cs typeface="Times New Roman" panose="02020603050405020304" pitchFamily="18" charset="0"/>
              </a:rPr>
              <a:t>e</a:t>
            </a:r>
            <a:r>
              <a:rPr lang="en-US" sz="2000" b="1" dirty="0">
                <a:latin typeface="Times New Roman" panose="02020603050405020304" pitchFamily="18" charset="0"/>
                <a:cs typeface="Times New Roman" panose="02020603050405020304" pitchFamily="18" charset="0"/>
              </a:rPr>
              <a:t>qually </a:t>
            </a:r>
            <a:r>
              <a:rPr lang="en-US" altLang="zh-CN" sz="2000" b="1" dirty="0">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mportant</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ome observations may be </a:t>
            </a:r>
            <a:r>
              <a:rPr lang="en-US" sz="2000" b="1" dirty="0">
                <a:latin typeface="Times New Roman" panose="02020603050405020304" pitchFamily="18" charset="0"/>
                <a:cs typeface="Times New Roman" panose="02020603050405020304" pitchFamily="18" charset="0"/>
              </a:rPr>
              <a:t>noisy or unreliable</a:t>
            </a:r>
            <a:r>
              <a:rPr lang="en-US" altLang="zh-CN" sz="2000" b="1" dirty="0">
                <a:latin typeface="Times New Roman" panose="02020603050405020304" pitchFamily="18" charset="0"/>
                <a:cs typeface="Times New Roman" panose="02020603050405020304" pitchFamily="18" charset="0"/>
              </a:rPr>
              <a:t>=&gt;</a:t>
            </a:r>
            <a:r>
              <a:rPr lang="zh-CN" alt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Observations near the edges of the data distribution may be </a:t>
            </a:r>
            <a:r>
              <a:rPr lang="en-US" sz="2000" b="1" dirty="0">
                <a:latin typeface="Times New Roman" panose="02020603050405020304" pitchFamily="18" charset="0"/>
                <a:cs typeface="Times New Roman" panose="02020603050405020304" pitchFamily="18" charset="0"/>
              </a:rPr>
              <a:t>less representative </a:t>
            </a:r>
            <a:r>
              <a:rPr lang="en-US" sz="2000" dirty="0">
                <a:latin typeface="Times New Roman" panose="02020603050405020304" pitchFamily="18" charset="0"/>
                <a:cs typeface="Times New Roman" panose="02020603050405020304" pitchFamily="18" charset="0"/>
              </a:rPr>
              <a:t>and lower in quality.</a:t>
            </a:r>
          </a:p>
        </p:txBody>
      </p:sp>
    </p:spTree>
    <p:extLst>
      <p:ext uri="{BB962C8B-B14F-4D97-AF65-F5344CB8AC3E}">
        <p14:creationId xmlns:p14="http://schemas.microsoft.com/office/powerpoint/2010/main" val="4008414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1402-8667-8323-F2F6-5177419CCF9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Task Overview</a:t>
            </a:r>
            <a:br>
              <a:rPr lang="en-US" dirty="0">
                <a:latin typeface="Times New Roman" panose="02020603050405020304" pitchFamily="18" charset="0"/>
                <a:cs typeface="Times New Roman" panose="02020603050405020304" pitchFamily="18" charset="0"/>
              </a:rPr>
            </a:br>
            <a:endParaRPr lang="en-KR" dirty="0"/>
          </a:p>
        </p:txBody>
      </p:sp>
      <p:graphicFrame>
        <p:nvGraphicFramePr>
          <p:cNvPr id="4" name="Content Placeholder 3">
            <a:extLst>
              <a:ext uri="{FF2B5EF4-FFF2-40B4-BE49-F238E27FC236}">
                <a16:creationId xmlns:a16="http://schemas.microsoft.com/office/drawing/2014/main" id="{C9464B78-BC83-4B1B-E97A-C55D5B5F50CB}"/>
              </a:ext>
            </a:extLst>
          </p:cNvPr>
          <p:cNvGraphicFramePr>
            <a:graphicFrameLocks noGrp="1"/>
          </p:cNvGraphicFramePr>
          <p:nvPr>
            <p:ph idx="1"/>
            <p:extLst>
              <p:ext uri="{D42A27DB-BD31-4B8C-83A1-F6EECF244321}">
                <p14:modId xmlns:p14="http://schemas.microsoft.com/office/powerpoint/2010/main" val="4087676407"/>
              </p:ext>
            </p:extLst>
          </p:nvPr>
        </p:nvGraphicFramePr>
        <p:xfrm>
          <a:off x="838200" y="2072760"/>
          <a:ext cx="10515600" cy="3355250"/>
        </p:xfrm>
        <a:graphic>
          <a:graphicData uri="http://schemas.openxmlformats.org/drawingml/2006/table">
            <a:tbl>
              <a:tblPr firstRow="1" bandRow="1">
                <a:tableStyleId>{B301B821-A1FF-4177-AEE7-76D212191A09}</a:tableStyleId>
              </a:tblPr>
              <a:tblGrid>
                <a:gridCol w="2060461">
                  <a:extLst>
                    <a:ext uri="{9D8B030D-6E8A-4147-A177-3AD203B41FA5}">
                      <a16:colId xmlns:a16="http://schemas.microsoft.com/office/drawing/2014/main" val="2471929805"/>
                    </a:ext>
                  </a:extLst>
                </a:gridCol>
                <a:gridCol w="4406017">
                  <a:extLst>
                    <a:ext uri="{9D8B030D-6E8A-4147-A177-3AD203B41FA5}">
                      <a16:colId xmlns:a16="http://schemas.microsoft.com/office/drawing/2014/main" val="2828858201"/>
                    </a:ext>
                  </a:extLst>
                </a:gridCol>
                <a:gridCol w="4049122">
                  <a:extLst>
                    <a:ext uri="{9D8B030D-6E8A-4147-A177-3AD203B41FA5}">
                      <a16:colId xmlns:a16="http://schemas.microsoft.com/office/drawing/2014/main" val="1067359585"/>
                    </a:ext>
                  </a:extLst>
                </a:gridCol>
              </a:tblGrid>
              <a:tr h="392111">
                <a:tc>
                  <a:txBody>
                    <a:bodyPr/>
                    <a:lstStyle/>
                    <a:p>
                      <a:pPr algn="ctr"/>
                      <a:r>
                        <a:rPr lang="en-US" altLang="zh-CN" dirty="0">
                          <a:latin typeface="Times New Roman" panose="02020603050405020304" pitchFamily="18" charset="0"/>
                          <a:cs typeface="Times New Roman" panose="02020603050405020304" pitchFamily="18" charset="0"/>
                        </a:rPr>
                        <a:t>Dataset</a:t>
                      </a:r>
                      <a:endParaRPr lang="en-KR"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Times New Roman" panose="02020603050405020304" pitchFamily="18" charset="0"/>
                          <a:cs typeface="Times New Roman" panose="02020603050405020304" pitchFamily="18" charset="0"/>
                        </a:rPr>
                        <a:t>Description</a:t>
                      </a:r>
                      <a:endParaRPr 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Value</a:t>
                      </a:r>
                    </a:p>
                  </a:txBody>
                  <a:tcPr anchor="ctr"/>
                </a:tc>
                <a:extLst>
                  <a:ext uri="{0D108BD9-81ED-4DB2-BD59-A6C34878D82A}">
                    <a16:rowId xmlns:a16="http://schemas.microsoft.com/office/drawing/2014/main" val="1579575677"/>
                  </a:ext>
                </a:extLst>
              </a:tr>
              <a:tr h="13977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Korea</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COVID-19</a:t>
                      </a:r>
                      <a:endParaRPr lang="en-KR" dirty="0">
                        <a:latin typeface="Times New Roman" panose="02020603050405020304" pitchFamily="18" charset="0"/>
                        <a:cs typeface="Times New Roman" panose="02020603050405020304" pitchFamily="18" charset="0"/>
                      </a:endParaRPr>
                    </a:p>
                  </a:txBody>
                  <a:tcPr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r>
                        <a:rPr lang="en-US" b="1" dirty="0">
                          <a:latin typeface="Times New Roman" panose="02020603050405020304" pitchFamily="18" charset="0"/>
                          <a:cs typeface="Times New Roman" panose="02020603050405020304" pitchFamily="18" charset="0"/>
                        </a:rPr>
                        <a:t>Predict BCR/TCR clonal diversity</a:t>
                      </a:r>
                      <a:r>
                        <a:rPr lang="en-US" dirty="0">
                          <a:latin typeface="Times New Roman" panose="02020603050405020304" pitchFamily="18" charset="0"/>
                          <a:cs typeface="Times New Roman" panose="02020603050405020304" pitchFamily="18" charset="0"/>
                        </a:rPr>
                        <a:t> (IGG, IGM, TCR-</a:t>
                      </a:r>
                      <a:r>
                        <a:rPr lang="el-GR" dirty="0">
                          <a:latin typeface="Times New Roman" panose="02020603050405020304" pitchFamily="18" charset="0"/>
                          <a:cs typeface="Times New Roman" panose="02020603050405020304" pitchFamily="18" charset="0"/>
                        </a:rPr>
                        <a:t>α/β) </a:t>
                      </a:r>
                      <a:endParaRPr lang="en-US"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inflammatory and immune-related proteins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r>
                        <a:rPr lang="en-US" dirty="0">
                          <a:latin typeface="Times New Roman" panose="02020603050405020304" pitchFamily="18" charset="0"/>
                          <a:cs typeface="Times New Roman" panose="02020603050405020304" pitchFamily="18" charset="0"/>
                        </a:rPr>
                        <a:t>Reflects adaptive immune function and aids understanding of recovery or vaccine response</a:t>
                      </a: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76947380"/>
                  </a:ext>
                </a:extLst>
              </a:tr>
              <a:tr h="15654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Japan</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T2D</a:t>
                      </a:r>
                      <a:endParaRPr lang="en-KR" dirty="0">
                        <a:latin typeface="Times New Roman" panose="02020603050405020304" pitchFamily="18" charset="0"/>
                        <a:cs typeface="Times New Roman" panose="02020603050405020304" pitchFamily="18" charset="0"/>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r>
                        <a:rPr lang="en-US" b="1" dirty="0">
                          <a:latin typeface="Times New Roman" panose="02020603050405020304" pitchFamily="18" charset="0"/>
                          <a:cs typeface="Times New Roman" panose="02020603050405020304" pitchFamily="18" charset="0"/>
                        </a:rPr>
                        <a:t>Predict fasting plasma glucose (FPG) </a:t>
                      </a:r>
                    </a:p>
                    <a:p>
                      <a:r>
                        <a:rPr lang="en-US" altLang="zh-CN" b="1"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clinical and metabolic profiles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r>
                        <a:rPr lang="en-US" dirty="0">
                          <a:latin typeface="Times New Roman" panose="02020603050405020304" pitchFamily="18" charset="0"/>
                          <a:cs typeface="Times New Roman" panose="02020603050405020304" pitchFamily="18" charset="0"/>
                        </a:rPr>
                        <a:t>Supports early screening and monitoring when direct glucose tests are limited</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3926189303"/>
                  </a:ext>
                </a:extLst>
              </a:tr>
            </a:tbl>
          </a:graphicData>
        </a:graphic>
      </p:graphicFrame>
    </p:spTree>
    <p:extLst>
      <p:ext uri="{BB962C8B-B14F-4D97-AF65-F5344CB8AC3E}">
        <p14:creationId xmlns:p14="http://schemas.microsoft.com/office/powerpoint/2010/main" val="1075632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44409-166C-C485-CCBE-01810FEE7C26}"/>
              </a:ext>
            </a:extLst>
          </p:cNvPr>
          <p:cNvSpPr>
            <a:spLocks noGrp="1"/>
          </p:cNvSpPr>
          <p:nvPr>
            <p:ph type="title"/>
          </p:nvPr>
        </p:nvSpPr>
        <p:spPr/>
        <p:txBody>
          <a:bodyPr>
            <a:normAutofit/>
          </a:bodyPr>
          <a:lstStyle/>
          <a:p>
            <a:r>
              <a:rPr lang="en-US" sz="3200">
                <a:latin typeface="Times New Roman" panose="02020603050405020304" pitchFamily="18" charset="0"/>
                <a:cs typeface="Times New Roman" panose="02020603050405020304" pitchFamily="18" charset="0"/>
              </a:rPr>
              <a:t>Consistency</a:t>
            </a:r>
            <a:r>
              <a:rPr lang="zh-CN" altLang="en-US" sz="3200">
                <a:latin typeface="Times New Roman" panose="02020603050405020304" pitchFamily="18" charset="0"/>
                <a:cs typeface="Times New Roman" panose="02020603050405020304" pitchFamily="18" charset="0"/>
              </a:rPr>
              <a:t> </a:t>
            </a:r>
            <a:r>
              <a:rPr lang="en-US" altLang="zh-CN" sz="3200">
                <a:latin typeface="Times New Roman" panose="02020603050405020304" pitchFamily="18" charset="0"/>
                <a:cs typeface="Times New Roman" panose="02020603050405020304" pitchFamily="18" charset="0"/>
              </a:rPr>
              <a:t>and</a:t>
            </a:r>
            <a:r>
              <a:rPr lang="zh-CN" altLang="en-US" sz="3200">
                <a:latin typeface="Times New Roman" panose="02020603050405020304" pitchFamily="18" charset="0"/>
                <a:cs typeface="Times New Roman" panose="02020603050405020304" pitchFamily="18" charset="0"/>
              </a:rPr>
              <a:t> </a:t>
            </a:r>
            <a:r>
              <a:rPr lang="en-US" altLang="zh-CN" sz="3200">
                <a:latin typeface="Times New Roman" panose="02020603050405020304" pitchFamily="18" charset="0"/>
                <a:cs typeface="Times New Roman" panose="02020603050405020304" pitchFamily="18" charset="0"/>
              </a:rPr>
              <a:t>time</a:t>
            </a:r>
            <a:r>
              <a:rPr lang="en-US" sz="3200">
                <a:latin typeface="Times New Roman" panose="02020603050405020304" pitchFamily="18" charset="0"/>
                <a:cs typeface="Times New Roman" panose="02020603050405020304" pitchFamily="18" charset="0"/>
              </a:rPr>
              <a:t>-adjusted SNN weighting</a:t>
            </a:r>
            <a:r>
              <a:rPr lang="zh-CN" altLang="en-US" sz="3200">
                <a:latin typeface="Times New Roman" panose="02020603050405020304" pitchFamily="18" charset="0"/>
                <a:cs typeface="Times New Roman" panose="02020603050405020304" pitchFamily="18" charset="0"/>
              </a:rPr>
              <a:t> </a:t>
            </a:r>
            <a:r>
              <a:rPr lang="en-US" altLang="zh-CN" sz="3200">
                <a:latin typeface="Times New Roman" panose="02020603050405020304" pitchFamily="18" charset="0"/>
                <a:cs typeface="Times New Roman" panose="02020603050405020304" pitchFamily="18" charset="0"/>
              </a:rPr>
              <a:t>(CTSNN)</a:t>
            </a:r>
            <a:endParaRPr lang="en-KR" sz="3200" dirty="0">
              <a:latin typeface="Times New Roman" panose="02020603050405020304" pitchFamily="18" charset="0"/>
              <a:cs typeface="Times New Roman" panose="02020603050405020304" pitchFamily="18" charset="0"/>
            </a:endParaRPr>
          </a:p>
        </p:txBody>
      </p:sp>
      <p:pic>
        <p:nvPicPr>
          <p:cNvPr id="8" name="Picture 7" descr="A group of mathematical equations&#10;&#10;AI-generated content may be incorrect.">
            <a:extLst>
              <a:ext uri="{FF2B5EF4-FFF2-40B4-BE49-F238E27FC236}">
                <a16:creationId xmlns:a16="http://schemas.microsoft.com/office/drawing/2014/main" id="{9C05A220-7DAA-2DF8-CE7E-A4CB93BF831C}"/>
              </a:ext>
            </a:extLst>
          </p:cNvPr>
          <p:cNvPicPr>
            <a:picLocks noChangeAspect="1"/>
          </p:cNvPicPr>
          <p:nvPr/>
        </p:nvPicPr>
        <p:blipFill>
          <a:blip r:embed="rId2"/>
          <a:srcRect r="31622"/>
          <a:stretch>
            <a:fillRect/>
          </a:stretch>
        </p:blipFill>
        <p:spPr>
          <a:xfrm>
            <a:off x="1773929" y="1597249"/>
            <a:ext cx="6678093" cy="2772183"/>
          </a:xfrm>
          <a:prstGeom prst="rect">
            <a:avLst/>
          </a:prstGeom>
        </p:spPr>
      </p:pic>
      <p:pic>
        <p:nvPicPr>
          <p:cNvPr id="11" name="Picture 10" descr="A close up of black text&#10;&#10;AI-generated content may be incorrect.">
            <a:extLst>
              <a:ext uri="{FF2B5EF4-FFF2-40B4-BE49-F238E27FC236}">
                <a16:creationId xmlns:a16="http://schemas.microsoft.com/office/drawing/2014/main" id="{AAE230BB-9D11-00DD-6249-FB3FD697ED94}"/>
              </a:ext>
            </a:extLst>
          </p:cNvPr>
          <p:cNvPicPr>
            <a:picLocks noChangeAspect="1"/>
          </p:cNvPicPr>
          <p:nvPr/>
        </p:nvPicPr>
        <p:blipFill>
          <a:blip r:embed="rId3"/>
          <a:stretch>
            <a:fillRect/>
          </a:stretch>
        </p:blipFill>
        <p:spPr>
          <a:xfrm>
            <a:off x="1044880" y="5074915"/>
            <a:ext cx="6561665" cy="1181984"/>
          </a:xfrm>
          <a:prstGeom prst="rect">
            <a:avLst/>
          </a:prstGeom>
        </p:spPr>
      </p:pic>
      <p:pic>
        <p:nvPicPr>
          <p:cNvPr id="4" name="Picture 3" descr="A white background with black and white clouds&#10;&#10;AI-generated content may be incorrect.">
            <a:extLst>
              <a:ext uri="{FF2B5EF4-FFF2-40B4-BE49-F238E27FC236}">
                <a16:creationId xmlns:a16="http://schemas.microsoft.com/office/drawing/2014/main" id="{B2BB6BAC-3E0E-58EA-533E-6E93928B4C7E}"/>
              </a:ext>
            </a:extLst>
          </p:cNvPr>
          <p:cNvPicPr>
            <a:picLocks noChangeAspect="1"/>
          </p:cNvPicPr>
          <p:nvPr/>
        </p:nvPicPr>
        <p:blipFill>
          <a:blip r:embed="rId4"/>
          <a:stretch>
            <a:fillRect/>
          </a:stretch>
        </p:blipFill>
        <p:spPr>
          <a:xfrm>
            <a:off x="8185322" y="3147851"/>
            <a:ext cx="533400" cy="469900"/>
          </a:xfrm>
          <a:prstGeom prst="rect">
            <a:avLst/>
          </a:prstGeom>
        </p:spPr>
      </p:pic>
    </p:spTree>
    <p:extLst>
      <p:ext uri="{BB962C8B-B14F-4D97-AF65-F5344CB8AC3E}">
        <p14:creationId xmlns:p14="http://schemas.microsoft.com/office/powerpoint/2010/main" val="2085999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9C6EE-45F0-FE2B-456E-5ABE7248C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95F0B-1C64-C075-D813-6B88E5220161}"/>
              </a:ext>
            </a:extLst>
          </p:cNvPr>
          <p:cNvSpPr>
            <a:spLocks noGrp="1"/>
          </p:cNvSpPr>
          <p:nvPr>
            <p:ph type="title"/>
          </p:nvPr>
        </p:nvSpPr>
        <p:spPr/>
        <p:txBody>
          <a:bodyPr>
            <a:normAutofit/>
          </a:bodyPr>
          <a:lstStyle/>
          <a:p>
            <a:r>
              <a:rPr lang="en-US" sz="3200">
                <a:latin typeface="Times New Roman" panose="02020603050405020304" pitchFamily="18" charset="0"/>
                <a:cs typeface="Times New Roman" panose="02020603050405020304" pitchFamily="18" charset="0"/>
              </a:rPr>
              <a:t>Consistency</a:t>
            </a:r>
            <a:r>
              <a:rPr lang="zh-CN" altLang="en-US" sz="3200">
                <a:latin typeface="Times New Roman" panose="02020603050405020304" pitchFamily="18" charset="0"/>
                <a:cs typeface="Times New Roman" panose="02020603050405020304" pitchFamily="18" charset="0"/>
              </a:rPr>
              <a:t> </a:t>
            </a:r>
            <a:r>
              <a:rPr lang="en-US" altLang="zh-CN" sz="3200">
                <a:latin typeface="Times New Roman" panose="02020603050405020304" pitchFamily="18" charset="0"/>
                <a:cs typeface="Times New Roman" panose="02020603050405020304" pitchFamily="18" charset="0"/>
              </a:rPr>
              <a:t>and</a:t>
            </a:r>
            <a:r>
              <a:rPr lang="zh-CN" altLang="en-US" sz="3200">
                <a:latin typeface="Times New Roman" panose="02020603050405020304" pitchFamily="18" charset="0"/>
                <a:cs typeface="Times New Roman" panose="02020603050405020304" pitchFamily="18" charset="0"/>
              </a:rPr>
              <a:t> </a:t>
            </a:r>
            <a:r>
              <a:rPr lang="en-US" altLang="zh-CN" sz="3200">
                <a:latin typeface="Times New Roman" panose="02020603050405020304" pitchFamily="18" charset="0"/>
                <a:cs typeface="Times New Roman" panose="02020603050405020304" pitchFamily="18" charset="0"/>
              </a:rPr>
              <a:t>time</a:t>
            </a:r>
            <a:r>
              <a:rPr lang="en-US" sz="3200">
                <a:latin typeface="Times New Roman" panose="02020603050405020304" pitchFamily="18" charset="0"/>
                <a:cs typeface="Times New Roman" panose="02020603050405020304" pitchFamily="18" charset="0"/>
              </a:rPr>
              <a:t>-adjusted SNN weighting</a:t>
            </a:r>
            <a:r>
              <a:rPr lang="zh-CN" altLang="en-US" sz="3200">
                <a:latin typeface="Times New Roman" panose="02020603050405020304" pitchFamily="18" charset="0"/>
                <a:cs typeface="Times New Roman" panose="02020603050405020304" pitchFamily="18" charset="0"/>
              </a:rPr>
              <a:t> </a:t>
            </a:r>
            <a:r>
              <a:rPr lang="en-US" altLang="zh-CN" sz="3200">
                <a:latin typeface="Times New Roman" panose="02020603050405020304" pitchFamily="18" charset="0"/>
                <a:cs typeface="Times New Roman" panose="02020603050405020304" pitchFamily="18" charset="0"/>
              </a:rPr>
              <a:t>(CTSNN)</a:t>
            </a:r>
            <a:endParaRPr lang="en-KR" sz="3200" dirty="0">
              <a:latin typeface="Times New Roman" panose="02020603050405020304" pitchFamily="18" charset="0"/>
              <a:cs typeface="Times New Roman" panose="02020603050405020304" pitchFamily="18" charset="0"/>
            </a:endParaRPr>
          </a:p>
        </p:txBody>
      </p:sp>
      <p:pic>
        <p:nvPicPr>
          <p:cNvPr id="8" name="Picture 7" descr="A group of mathematical equations&#10;&#10;AI-generated content may be incorrect.">
            <a:extLst>
              <a:ext uri="{FF2B5EF4-FFF2-40B4-BE49-F238E27FC236}">
                <a16:creationId xmlns:a16="http://schemas.microsoft.com/office/drawing/2014/main" id="{A91E41E4-77C9-F737-B05E-431E4AF1E261}"/>
              </a:ext>
            </a:extLst>
          </p:cNvPr>
          <p:cNvPicPr>
            <a:picLocks noChangeAspect="1"/>
          </p:cNvPicPr>
          <p:nvPr/>
        </p:nvPicPr>
        <p:blipFill>
          <a:blip r:embed="rId2"/>
          <a:srcRect r="31622"/>
          <a:stretch>
            <a:fillRect/>
          </a:stretch>
        </p:blipFill>
        <p:spPr>
          <a:xfrm>
            <a:off x="1773929" y="1597249"/>
            <a:ext cx="6678093" cy="2772183"/>
          </a:xfrm>
          <a:prstGeom prst="rect">
            <a:avLst/>
          </a:prstGeom>
        </p:spPr>
      </p:pic>
      <p:pic>
        <p:nvPicPr>
          <p:cNvPr id="11" name="Picture 10" descr="A close up of black text&#10;&#10;AI-generated content may be incorrect.">
            <a:extLst>
              <a:ext uri="{FF2B5EF4-FFF2-40B4-BE49-F238E27FC236}">
                <a16:creationId xmlns:a16="http://schemas.microsoft.com/office/drawing/2014/main" id="{52A63F10-7F74-89C4-33C6-0FEBE0DB47B5}"/>
              </a:ext>
            </a:extLst>
          </p:cNvPr>
          <p:cNvPicPr>
            <a:picLocks noChangeAspect="1"/>
          </p:cNvPicPr>
          <p:nvPr/>
        </p:nvPicPr>
        <p:blipFill>
          <a:blip r:embed="rId3"/>
          <a:stretch>
            <a:fillRect/>
          </a:stretch>
        </p:blipFill>
        <p:spPr>
          <a:xfrm>
            <a:off x="1044880" y="5074915"/>
            <a:ext cx="6561665" cy="1181984"/>
          </a:xfrm>
          <a:prstGeom prst="rect">
            <a:avLst/>
          </a:prstGeom>
        </p:spPr>
      </p:pic>
      <p:pic>
        <p:nvPicPr>
          <p:cNvPr id="4" name="Picture 3" descr="A white background with black and white clouds&#10;&#10;AI-generated content may be incorrect.">
            <a:extLst>
              <a:ext uri="{FF2B5EF4-FFF2-40B4-BE49-F238E27FC236}">
                <a16:creationId xmlns:a16="http://schemas.microsoft.com/office/drawing/2014/main" id="{F40F5C40-3C96-C64F-44B6-E00B06AAFC6F}"/>
              </a:ext>
            </a:extLst>
          </p:cNvPr>
          <p:cNvPicPr>
            <a:picLocks noChangeAspect="1"/>
          </p:cNvPicPr>
          <p:nvPr/>
        </p:nvPicPr>
        <p:blipFill>
          <a:blip r:embed="rId4"/>
          <a:stretch>
            <a:fillRect/>
          </a:stretch>
        </p:blipFill>
        <p:spPr>
          <a:xfrm>
            <a:off x="8185322" y="3147851"/>
            <a:ext cx="533400" cy="469900"/>
          </a:xfrm>
          <a:prstGeom prst="rect">
            <a:avLst/>
          </a:prstGeom>
        </p:spPr>
      </p:pic>
    </p:spTree>
    <p:extLst>
      <p:ext uri="{BB962C8B-B14F-4D97-AF65-F5344CB8AC3E}">
        <p14:creationId xmlns:p14="http://schemas.microsoft.com/office/powerpoint/2010/main" val="2903216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4FA85-6F81-B86C-3E48-426C4C2668C2}"/>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Reference</a:t>
            </a:r>
            <a:r>
              <a:rPr lang="zh-CN" altLang="en-US" dirty="0">
                <a:latin typeface="Times New Roman" panose="02020603050405020304" pitchFamily="18" charset="0"/>
                <a:cs typeface="Times New Roman" panose="02020603050405020304" pitchFamily="18" charset="0"/>
              </a:rPr>
              <a:t> </a:t>
            </a:r>
            <a:endParaRPr lang="en-K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C7E17C-19D9-98D0-D98F-6AF769FF7EAD}"/>
              </a:ext>
            </a:extLst>
          </p:cNvPr>
          <p:cNvSpPr>
            <a:spLocks noGrp="1"/>
          </p:cNvSpPr>
          <p:nvPr>
            <p:ph idx="1"/>
          </p:nvPr>
        </p:nvSpPr>
        <p:spPr/>
        <p:txBody>
          <a:bodyPr>
            <a:normAutofit/>
          </a:bodyPr>
          <a:lstStyle/>
          <a:p>
            <a:r>
              <a:rPr lang="en-US" altLang="zh-CN" sz="18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Speiser J L. A random forest method with feature selection for developing medical prediction models with clustered and longitudinal data[J]. Journal of biomedical informatics, 2021, 117: 103763.</a:t>
            </a:r>
          </a:p>
          <a:p>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Pomsuwan</a:t>
            </a:r>
            <a:r>
              <a:rPr lang="en-US" sz="1800" dirty="0">
                <a:latin typeface="Times New Roman" panose="02020603050405020304" pitchFamily="18" charset="0"/>
                <a:cs typeface="Times New Roman" panose="02020603050405020304" pitchFamily="18" charset="0"/>
              </a:rPr>
              <a:t> T, Freitas A A. Feature selection for the classification of longitudinal human ageing data[C]//2017 IEEE International Conference on Data Mining Workshops (ICDMW). IEEE, 2017: 739-746.</a:t>
            </a:r>
          </a:p>
          <a:p>
            <a:r>
              <a:rPr lang="en-US" altLang="zh-CN" sz="1800" dirty="0">
                <a:latin typeface="Times New Roman" panose="02020603050405020304" pitchFamily="18" charset="0"/>
                <a:cs typeface="Times New Roman" panose="02020603050405020304" pitchFamily="18" charset="0"/>
              </a:rPr>
              <a:t>[3]</a:t>
            </a:r>
            <a:r>
              <a:rPr lang="zh-CN"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Lou Q, Obradovic Z. Analysis of temporal high-dimensional gene expression data for identifying informative biomarker candidates[C]//2012 IEEE 12th International Conference on Data Mining. IEEE, 2012: 996-1001.</a:t>
            </a:r>
          </a:p>
          <a:p>
            <a:r>
              <a:rPr lang="en-US" altLang="zh-CN" sz="1800" dirty="0">
                <a:latin typeface="Times New Roman" panose="02020603050405020304" pitchFamily="18" charset="0"/>
                <a:cs typeface="Times New Roman" panose="02020603050405020304" pitchFamily="18" charset="0"/>
              </a:rPr>
              <a:t>[4]</a:t>
            </a:r>
            <a:r>
              <a:rPr lang="zh-CN" alt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Ngufor</a:t>
            </a:r>
            <a:r>
              <a:rPr lang="en-US" sz="1800" dirty="0">
                <a:latin typeface="Times New Roman" panose="02020603050405020304" pitchFamily="18" charset="0"/>
                <a:cs typeface="Times New Roman" panose="02020603050405020304" pitchFamily="18" charset="0"/>
              </a:rPr>
              <a:t> C, Van Houten H, Caffo B S, et al. Mixed effect machine learning: A framework for predicting longitudinal change in hemoglobin A1c[J]. Journal of biomedical informatics, 2019, 89: 56-67.</a:t>
            </a:r>
          </a:p>
          <a:p>
            <a:r>
              <a:rPr lang="en-US" altLang="zh-CN" sz="1800" dirty="0">
                <a:latin typeface="Times New Roman" panose="02020603050405020304" pitchFamily="18" charset="0"/>
                <a:cs typeface="Times New Roman" panose="02020603050405020304" pitchFamily="18" charset="0"/>
              </a:rPr>
              <a:t>[5]</a:t>
            </a:r>
            <a:r>
              <a:rPr lang="zh-CN"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Jarvis R A, Patrick E A. Clustering using a similarity measure based on shared near neighbors[J]. IEEE Transactions on computers, 1973, 100(11): 1025-1034.</a:t>
            </a:r>
            <a:endParaRPr lang="en-KR"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K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706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15154</TotalTime>
  <Words>2140</Words>
  <Application>Microsoft Macintosh PowerPoint</Application>
  <PresentationFormat>Widescreen</PresentationFormat>
  <Paragraphs>267</Paragraphs>
  <Slides>24</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Cambria Math</vt:lpstr>
      <vt:lpstr>Times New Roman</vt:lpstr>
      <vt:lpstr>Office Theme</vt:lpstr>
      <vt:lpstr>Spatiotemporal Topological Denoising for Identifying Robust Features in Longitudinal Data</vt:lpstr>
      <vt:lpstr>Introduction</vt:lpstr>
      <vt:lpstr>Background</vt:lpstr>
      <vt:lpstr>Traditional feature selection approaches</vt:lpstr>
      <vt:lpstr>Objective</vt:lpstr>
      <vt:lpstr>Methods</vt:lpstr>
      <vt:lpstr>SOTA methods</vt:lpstr>
      <vt:lpstr>Results</vt:lpstr>
      <vt:lpstr>Data Availability</vt:lpstr>
      <vt:lpstr>EDA-Trajectories and Frequency Distribution (COVID-19)</vt:lpstr>
      <vt:lpstr>EDA-Description of COVID-19 Dataset</vt:lpstr>
      <vt:lpstr>EDA-Description of JP Diabetes Dataset</vt:lpstr>
      <vt:lpstr>EDA-Description of KARE T2D Dataset</vt:lpstr>
      <vt:lpstr>EDA-Trajectories and Frequency Distribution (JP FPG)</vt:lpstr>
      <vt:lpstr>Shared Nearest Neighbors (SNN) [5]</vt:lpstr>
      <vt:lpstr>SNN-based Weighting Strategy</vt:lpstr>
      <vt:lpstr>Consistency-adjusted SNN weighting strategy</vt:lpstr>
      <vt:lpstr>Evaluation for Weighting Strategies</vt:lpstr>
      <vt:lpstr>EDA – Trajectories and Dataset (KARE T2D)</vt:lpstr>
      <vt:lpstr>Reason for assigning different weight to observations</vt:lpstr>
      <vt:lpstr>  Task Overview </vt:lpstr>
      <vt:lpstr>Consistency and time-adjusted SNN weighting (CTSNN)</vt:lpstr>
      <vt:lpstr>Consistency and time-adjusted SNN weighting (CTSNN)</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유철</dc:creator>
  <cp:lastModifiedBy>유철</cp:lastModifiedBy>
  <cp:revision>353</cp:revision>
  <dcterms:created xsi:type="dcterms:W3CDTF">2025-04-14T18:33:18Z</dcterms:created>
  <dcterms:modified xsi:type="dcterms:W3CDTF">2026-07-08T09:19:53Z</dcterms:modified>
</cp:coreProperties>
</file>